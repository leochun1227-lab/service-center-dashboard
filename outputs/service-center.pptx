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2860000" cy="15049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3" d="100"/>
          <a:sy n="93" d="100"/>
        </p:scale>
        <p:origin x="66" y="-3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">
            <a:extLst>
              <a:ext uri="{FF2B5EF4-FFF2-40B4-BE49-F238E27FC236}">
                <a16:creationId xmlns:a16="http://schemas.microsoft.com/office/drawing/2014/main" id="{225E415E-9E28-4584-9BFA-0CC8D1D30F1F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47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172033"/>
                </a:solidFill>
              </a:defRPr>
            </a:pPr>
            <a:r>
              <a:rPr sz="3300" b="1">
                <a:solidFill>
                  <a:srgbClr val="172033"/>
                </a:solidFill>
              </a:rPr>
              <a:t>Service Center Data Center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1A2AD12-BDC5-4B93-B58F-027900E3F467}"/>
              </a:ext>
            </a:extLst>
          </p:cNvPr>
          <p:cNvSpPr>
            <a:spLocks noGrp="1"/>
          </p:cNvSpPr>
          <p:nvPr/>
        </p:nvSpPr>
        <p:spPr>
          <a:xfrm>
            <a:off x="762000" y="1066800"/>
            <a:ext cx="1143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35506E"/>
                </a:solidFill>
              </a:defRPr>
            </a:pPr>
            <a:r>
              <a:rPr sz="1500" b="0">
                <a:solidFill>
                  <a:srgbClr val="35506E"/>
                </a:solidFill>
              </a:rPr>
              <a:t>7 tables · dashboard serving model with repair order finance KPI inputs</a:t>
            </a:r>
          </a:p>
        </p:txBody>
      </p:sp>
      <p:sp>
        <p:nvSpPr>
          <p:cNvPr id="3" name="legend">
            <a:extLst>
              <a:ext uri="{FF2B5EF4-FFF2-40B4-BE49-F238E27FC236}">
                <a16:creationId xmlns:a16="http://schemas.microsoft.com/office/drawing/2014/main" id="{215FE4FA-2457-49D8-9C81-FA5244E560AD}"/>
              </a:ext>
            </a:extLst>
          </p:cNvPr>
          <p:cNvSpPr>
            <a:spLocks noGrp="1"/>
          </p:cNvSpPr>
          <p:nvPr/>
        </p:nvSpPr>
        <p:spPr>
          <a:xfrm>
            <a:off x="16573500" y="476250"/>
            <a:ext cx="5524500" cy="13335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4288">
            <a:solidFill>
              <a:srgbClr val="DCE8F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legend-pk">
            <a:extLst>
              <a:ext uri="{FF2B5EF4-FFF2-40B4-BE49-F238E27FC236}">
                <a16:creationId xmlns:a16="http://schemas.microsoft.com/office/drawing/2014/main" id="{34B5DD49-CB06-49D7-B694-5570DF138BCB}"/>
              </a:ext>
            </a:extLst>
          </p:cNvPr>
          <p:cNvSpPr>
            <a:spLocks noGrp="1"/>
          </p:cNvSpPr>
          <p:nvPr/>
        </p:nvSpPr>
        <p:spPr>
          <a:xfrm>
            <a:off x="16840200" y="6858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PK = Primary Key</a:t>
            </a:r>
          </a:p>
        </p:txBody>
      </p:sp>
      <p:sp>
        <p:nvSpPr>
          <p:cNvPr id="5" name="legend-fk">
            <a:extLst>
              <a:ext uri="{FF2B5EF4-FFF2-40B4-BE49-F238E27FC236}">
                <a16:creationId xmlns:a16="http://schemas.microsoft.com/office/drawing/2014/main" id="{F32EED5D-7BA6-4A5A-8642-3BAA9CE5A939}"/>
              </a:ext>
            </a:extLst>
          </p:cNvPr>
          <p:cNvSpPr>
            <a:spLocks noGrp="1"/>
          </p:cNvSpPr>
          <p:nvPr/>
        </p:nvSpPr>
        <p:spPr>
          <a:xfrm>
            <a:off x="19354800" y="6858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FK = Foreign Key</a:t>
            </a:r>
          </a:p>
        </p:txBody>
      </p:sp>
      <p:sp>
        <p:nvSpPr>
          <p:cNvPr id="6" name="legend-dim">
            <a:extLst>
              <a:ext uri="{FF2B5EF4-FFF2-40B4-BE49-F238E27FC236}">
                <a16:creationId xmlns:a16="http://schemas.microsoft.com/office/drawing/2014/main" id="{7F4E1849-D373-4A8E-A00B-455DBB4B0AFF}"/>
              </a:ext>
            </a:extLst>
          </p:cNvPr>
          <p:cNvSpPr>
            <a:spLocks noGrp="1"/>
          </p:cNvSpPr>
          <p:nvPr/>
        </p:nvSpPr>
        <p:spPr>
          <a:xfrm>
            <a:off x="16840200" y="10477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DIM = Dimension</a:t>
            </a:r>
          </a:p>
        </p:txBody>
      </p:sp>
      <p:sp>
        <p:nvSpPr>
          <p:cNvPr id="7" name="legend-fact">
            <a:extLst>
              <a:ext uri="{FF2B5EF4-FFF2-40B4-BE49-F238E27FC236}">
                <a16:creationId xmlns:a16="http://schemas.microsoft.com/office/drawing/2014/main" id="{03668716-D1EF-42A1-B014-6C35072379CA}"/>
              </a:ext>
            </a:extLst>
          </p:cNvPr>
          <p:cNvSpPr>
            <a:spLocks noGrp="1"/>
          </p:cNvSpPr>
          <p:nvPr/>
        </p:nvSpPr>
        <p:spPr>
          <a:xfrm>
            <a:off x="19354800" y="10477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FACT = Fact Table</a:t>
            </a:r>
          </a:p>
        </p:txBody>
      </p:sp>
      <p:sp>
        <p:nvSpPr>
          <p:cNvPr id="8" name="legend-sap">
            <a:extLst>
              <a:ext uri="{FF2B5EF4-FFF2-40B4-BE49-F238E27FC236}">
                <a16:creationId xmlns:a16="http://schemas.microsoft.com/office/drawing/2014/main" id="{8321F346-2E4E-4FA2-BD8A-127383C417B4}"/>
              </a:ext>
            </a:extLst>
          </p:cNvPr>
          <p:cNvSpPr>
            <a:spLocks noGrp="1"/>
          </p:cNvSpPr>
          <p:nvPr/>
        </p:nvSpPr>
        <p:spPr>
          <a:xfrm>
            <a:off x="16840200" y="14287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BD3A2D"/>
                </a:solidFill>
              </a:defRPr>
            </a:pPr>
            <a:r>
              <a:rPr sz="1275" b="1">
                <a:solidFill>
                  <a:srgbClr val="BD3A2D"/>
                </a:solidFill>
              </a:rPr>
              <a:t>SAP = finance source</a:t>
            </a:r>
          </a:p>
        </p:txBody>
      </p:sp>
      <p:sp>
        <p:nvSpPr>
          <p:cNvPr id="9" name="legend-c4c">
            <a:extLst>
              <a:ext uri="{FF2B5EF4-FFF2-40B4-BE49-F238E27FC236}">
                <a16:creationId xmlns:a16="http://schemas.microsoft.com/office/drawing/2014/main" id="{23D5A801-CE12-4F02-83F8-B092BBD233DF}"/>
              </a:ext>
            </a:extLst>
          </p:cNvPr>
          <p:cNvSpPr>
            <a:spLocks noGrp="1"/>
          </p:cNvSpPr>
          <p:nvPr/>
        </p:nvSpPr>
        <p:spPr>
          <a:xfrm>
            <a:off x="19354800" y="14287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6834D"/>
                </a:solidFill>
              </a:defRPr>
            </a:pPr>
            <a:r>
              <a:rPr sz="1275" b="1">
                <a:solidFill>
                  <a:srgbClr val="16834D"/>
                </a:solidFill>
              </a:rPr>
              <a:t>C4C = service source</a:t>
            </a:r>
          </a:p>
        </p:txBody>
      </p:sp>
      <p:sp>
        <p:nvSpPr>
          <p:cNvPr id="10" name="ro-card">
            <a:extLst>
              <a:ext uri="{FF2B5EF4-FFF2-40B4-BE49-F238E27FC236}">
                <a16:creationId xmlns:a16="http://schemas.microsoft.com/office/drawing/2014/main" id="{5E46AF73-757E-4E5A-A6A3-ED0B82B4738F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5524500" cy="36195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4288">
            <a:solidFill>
              <a:srgbClr val="DD222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ro-header">
            <a:extLst>
              <a:ext uri="{FF2B5EF4-FFF2-40B4-BE49-F238E27FC236}">
                <a16:creationId xmlns:a16="http://schemas.microsoft.com/office/drawing/2014/main" id="{0D5D33D9-B64B-46BE-A53E-3FBDD166607E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5524500" cy="495300"/>
          </a:xfrm>
          <a:prstGeom prst="rect">
            <a:avLst/>
          </a:prstGeom>
          <a:solidFill>
            <a:srgbClr val="DD2229"/>
          </a:solidFill>
          <a:ln w="9525">
            <a:solidFill>
              <a:srgbClr val="DD222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ro-badge">
            <a:extLst>
              <a:ext uri="{FF2B5EF4-FFF2-40B4-BE49-F238E27FC236}">
                <a16:creationId xmlns:a16="http://schemas.microsoft.com/office/drawing/2014/main" id="{4FF46A59-D2C4-4547-B0E2-D375D42C9213}"/>
              </a:ext>
            </a:extLst>
          </p:cNvPr>
          <p:cNvSpPr>
            <a:spLocks noGrp="1"/>
          </p:cNvSpPr>
          <p:nvPr/>
        </p:nvSpPr>
        <p:spPr>
          <a:xfrm>
            <a:off x="895350" y="2209800"/>
            <a:ext cx="266700" cy="2667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DD2229"/>
                </a:solidFill>
              </a:defRPr>
            </a:pPr>
            <a:r>
              <a:rPr sz="975" b="1">
                <a:solidFill>
                  <a:srgbClr val="DD2229"/>
                </a:solidFill>
              </a:rPr>
              <a:t>F</a:t>
            </a:r>
          </a:p>
        </p:txBody>
      </p:sp>
      <p:sp>
        <p:nvSpPr>
          <p:cNvPr id="13" name="ro-title">
            <a:extLst>
              <a:ext uri="{FF2B5EF4-FFF2-40B4-BE49-F238E27FC236}">
                <a16:creationId xmlns:a16="http://schemas.microsoft.com/office/drawing/2014/main" id="{F9920A5E-D763-4213-86D3-AD4BEA1CCEBF}"/>
              </a:ext>
            </a:extLst>
          </p:cNvPr>
          <p:cNvSpPr>
            <a:spLocks noGrp="1"/>
          </p:cNvSpPr>
          <p:nvPr/>
        </p:nvSpPr>
        <p:spPr>
          <a:xfrm>
            <a:off x="1276350" y="220980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1. FACT_RO_FINANCE</a:t>
            </a:r>
          </a:p>
        </p:txBody>
      </p:sp>
      <p:graphicFrame>
        <p:nvGraphicFramePr>
          <p:cNvPr id="91" name="Table 90"/>
          <p:cNvGraphicFramePr/>
          <p:nvPr>
            <p:extLst>
              <p:ext uri="{D42A27DB-BD31-4B8C-83A1-F6EECF244321}">
                <p14:modId xmlns:p14="http://schemas.microsoft.com/office/powerpoint/2010/main" val="875689255"/>
              </p:ext>
            </p:extLst>
          </p:nvPr>
        </p:nvGraphicFramePr>
        <p:xfrm>
          <a:off x="761999" y="2598423"/>
          <a:ext cx="5524500" cy="3166466"/>
        </p:xfrm>
        <a:graphic>
          <a:graphicData uri="http://schemas.openxmlformats.org/drawingml/2006/table">
            <a:tbl>
              <a:tblPr/>
              <a:tblGrid>
                <a:gridCol w="2615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566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75569"/>
                          </a:solidFill>
                        </a:rPr>
                        <a:t>Field</a:t>
                      </a:r>
                    </a:p>
                  </a:txBody>
                  <a:tcPr marL="57150" marR="57150" marT="19050" marB="190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75569"/>
                          </a:solidFill>
                        </a:rPr>
                        <a:t>Source</a:t>
                      </a:r>
                    </a:p>
                  </a:txBody>
                  <a:tcPr marL="57150" marR="57150" marT="19050" marB="190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75569"/>
                          </a:solidFill>
                        </a:rPr>
                        <a:t>Key</a:t>
                      </a:r>
                    </a:p>
                  </a:txBody>
                  <a:tcPr marL="57150" marR="57150" marT="19050" marB="1905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22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ROFinanceID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PK</a:t>
                      </a:r>
                    </a:p>
                  </a:txBody>
                  <a:tcPr marL="57150" marR="57150" marT="9525" marB="9525">
                    <a:solidFill>
                      <a:srgbClr val="F6B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56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ServiceOrderID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6834D"/>
                          </a:solidFill>
                        </a:rPr>
                        <a:t>C4C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FK</a:t>
                      </a:r>
                    </a:p>
                  </a:txBody>
                  <a:tcPr marL="57150" marR="57150" marT="9525" marB="9525">
                    <a:solidFill>
                      <a:srgbClr val="32B5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56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InvoiceID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BD3A2D"/>
                          </a:solidFill>
                        </a:rPr>
                        <a:t>SAP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FK</a:t>
                      </a:r>
                    </a:p>
                  </a:txBody>
                  <a:tcPr marL="57150" marR="57150" marT="9525" marB="9525">
                    <a:solidFill>
                      <a:srgbClr val="32B5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22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OrderRevenue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22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LaborRevenue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22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PartsRevenue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22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LabourCostAmount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HR Payslip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622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PartsCost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622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SoldHours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6834D"/>
                          </a:solidFill>
                        </a:rPr>
                        <a:t>C4C ClaimHours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622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PostedLaborRate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6834D"/>
                          </a:solidFill>
                        </a:rPr>
                        <a:t>C4C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5" name="ro-note">
            <a:extLst>
              <a:ext uri="{FF2B5EF4-FFF2-40B4-BE49-F238E27FC236}">
                <a16:creationId xmlns:a16="http://schemas.microsoft.com/office/drawing/2014/main" id="{AB744E6A-AC69-4F51-9EED-FB403B26DBB2}"/>
              </a:ext>
            </a:extLst>
          </p:cNvPr>
          <p:cNvSpPr>
            <a:spLocks noGrp="1"/>
          </p:cNvSpPr>
          <p:nvPr/>
        </p:nvSpPr>
        <p:spPr>
          <a:xfrm>
            <a:off x="762000" y="5848350"/>
            <a:ext cx="5524500" cy="685800"/>
          </a:xfrm>
          <a:prstGeom prst="roundRect">
            <a:avLst>
              <a:gd name="adj" fmla="val 13889"/>
            </a:avLst>
          </a:prstGeom>
          <a:solidFill>
            <a:srgbClr val="FFF1F1"/>
          </a:solidFill>
          <a:ln w="14288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ro-note-text">
            <a:extLst>
              <a:ext uri="{FF2B5EF4-FFF2-40B4-BE49-F238E27FC236}">
                <a16:creationId xmlns:a16="http://schemas.microsoft.com/office/drawing/2014/main" id="{5B840A80-F7E9-4C39-BD3F-7FF714182551}"/>
              </a:ext>
            </a:extLst>
          </p:cNvPr>
          <p:cNvSpPr>
            <a:spLocks noGrp="1"/>
          </p:cNvSpPr>
          <p:nvPr/>
        </p:nvSpPr>
        <p:spPr>
          <a:xfrm>
            <a:off x="914400" y="5981700"/>
            <a:ext cx="5219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8A2525"/>
                </a:solidFill>
              </a:defRPr>
            </a:pPr>
            <a:r>
              <a:rPr sz="1125" b="0">
                <a:solidFill>
                  <a:srgbClr val="8A2525"/>
                </a:solidFill>
              </a:rPr>
              <a:t>RO finance fact: finance KPI inputs for ARO, labor rate, gross margin and absorption.</a:t>
            </a:r>
          </a:p>
        </p:txBody>
      </p:sp>
      <p:sp>
        <p:nvSpPr>
          <p:cNvPr id="17" name="order-card">
            <a:extLst>
              <a:ext uri="{FF2B5EF4-FFF2-40B4-BE49-F238E27FC236}">
                <a16:creationId xmlns:a16="http://schemas.microsoft.com/office/drawing/2014/main" id="{A3F80013-3223-470A-A6A0-9CB4A99E7411}"/>
              </a:ext>
            </a:extLst>
          </p:cNvPr>
          <p:cNvSpPr>
            <a:spLocks noGrp="1"/>
          </p:cNvSpPr>
          <p:nvPr/>
        </p:nvSpPr>
        <p:spPr>
          <a:xfrm>
            <a:off x="7239000" y="2095500"/>
            <a:ext cx="5524500" cy="390525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4288">
            <a:solidFill>
              <a:srgbClr val="DD222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order-header">
            <a:extLst>
              <a:ext uri="{FF2B5EF4-FFF2-40B4-BE49-F238E27FC236}">
                <a16:creationId xmlns:a16="http://schemas.microsoft.com/office/drawing/2014/main" id="{ED4CBED6-36D4-4D4B-8C99-CEFC924619A9}"/>
              </a:ext>
            </a:extLst>
          </p:cNvPr>
          <p:cNvSpPr>
            <a:spLocks noGrp="1"/>
          </p:cNvSpPr>
          <p:nvPr/>
        </p:nvSpPr>
        <p:spPr>
          <a:xfrm>
            <a:off x="7239000" y="2095500"/>
            <a:ext cx="5524500" cy="495300"/>
          </a:xfrm>
          <a:prstGeom prst="rect">
            <a:avLst/>
          </a:prstGeom>
          <a:solidFill>
            <a:srgbClr val="DD2229"/>
          </a:solidFill>
          <a:ln w="9525">
            <a:solidFill>
              <a:srgbClr val="DD222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order-badge">
            <a:extLst>
              <a:ext uri="{FF2B5EF4-FFF2-40B4-BE49-F238E27FC236}">
                <a16:creationId xmlns:a16="http://schemas.microsoft.com/office/drawing/2014/main" id="{9E0768CC-F5C2-43CE-A9A5-37B6AD75EF3E}"/>
              </a:ext>
            </a:extLst>
          </p:cNvPr>
          <p:cNvSpPr>
            <a:spLocks noGrp="1"/>
          </p:cNvSpPr>
          <p:nvPr/>
        </p:nvSpPr>
        <p:spPr>
          <a:xfrm>
            <a:off x="7372350" y="2209800"/>
            <a:ext cx="266700" cy="2667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DD2229"/>
                </a:solidFill>
              </a:defRPr>
            </a:pPr>
            <a:r>
              <a:rPr sz="975" b="1">
                <a:solidFill>
                  <a:srgbClr val="DD2229"/>
                </a:solidFill>
              </a:rPr>
              <a:t>O</a:t>
            </a:r>
          </a:p>
        </p:txBody>
      </p:sp>
      <p:sp>
        <p:nvSpPr>
          <p:cNvPr id="20" name="order-title">
            <a:extLst>
              <a:ext uri="{FF2B5EF4-FFF2-40B4-BE49-F238E27FC236}">
                <a16:creationId xmlns:a16="http://schemas.microsoft.com/office/drawing/2014/main" id="{5E981C36-D0C0-491A-B25F-933A81C552E3}"/>
              </a:ext>
            </a:extLst>
          </p:cNvPr>
          <p:cNvSpPr>
            <a:spLocks noGrp="1"/>
          </p:cNvSpPr>
          <p:nvPr/>
        </p:nvSpPr>
        <p:spPr>
          <a:xfrm>
            <a:off x="7753350" y="220980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 dirty="0">
                <a:solidFill>
                  <a:srgbClr val="FFFFFF"/>
                </a:solidFill>
              </a:rPr>
              <a:t>2. FACT_SERVICE_ORDER</a:t>
            </a:r>
          </a:p>
        </p:txBody>
      </p:sp>
      <p:graphicFrame>
        <p:nvGraphicFramePr>
          <p:cNvPr id="98" name="Table 97"/>
          <p:cNvGraphicFramePr/>
          <p:nvPr>
            <p:extLst>
              <p:ext uri="{D42A27DB-BD31-4B8C-83A1-F6EECF244321}">
                <p14:modId xmlns:p14="http://schemas.microsoft.com/office/powerpoint/2010/main" val="2854882491"/>
              </p:ext>
            </p:extLst>
          </p:nvPr>
        </p:nvGraphicFramePr>
        <p:xfrm>
          <a:off x="7239000" y="2598423"/>
          <a:ext cx="5543550" cy="3516624"/>
        </p:xfrm>
        <a:graphic>
          <a:graphicData uri="http://schemas.openxmlformats.org/drawingml/2006/table">
            <a:tbl>
              <a:tblPr/>
              <a:tblGrid>
                <a:gridCol w="2624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9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8186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75569"/>
                          </a:solidFill>
                        </a:rPr>
                        <a:t>Field</a:t>
                      </a:r>
                    </a:p>
                  </a:txBody>
                  <a:tcPr marL="57150" marR="57150" marT="19050" marB="190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75569"/>
                          </a:solidFill>
                        </a:rPr>
                        <a:t>Source</a:t>
                      </a:r>
                    </a:p>
                  </a:txBody>
                  <a:tcPr marL="57150" marR="57150" marT="19050" marB="190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75569"/>
                          </a:solidFill>
                        </a:rPr>
                        <a:t>Key</a:t>
                      </a:r>
                    </a:p>
                  </a:txBody>
                  <a:tcPr marL="57150" marR="57150" marT="19050" marB="1905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18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ServiceOrderID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6834D"/>
                          </a:solidFill>
                        </a:rPr>
                        <a:t>C4C Ticket ID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PK</a:t>
                      </a:r>
                    </a:p>
                  </a:txBody>
                  <a:tcPr marL="57150" marR="57150" marT="9525" marB="9525">
                    <a:solidFill>
                      <a:srgbClr val="F6B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18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VehicleID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6834D"/>
                          </a:solidFill>
                        </a:rPr>
                        <a:t>C4C Chassis number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FK</a:t>
                      </a:r>
                    </a:p>
                  </a:txBody>
                  <a:tcPr marL="57150" marR="57150" marT="9525" marB="9525">
                    <a:solidFill>
                      <a:srgbClr val="32B5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67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DealerYard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6834D"/>
                          </a:solidFill>
                        </a:rPr>
                        <a:t>C4C Warranty Dealer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67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ServiceType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6834D"/>
                          </a:solidFill>
                        </a:rPr>
                        <a:t>C4C Type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67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CreatedDate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6834D"/>
                          </a:solidFill>
                        </a:rPr>
                        <a:t>C4C CreatedOn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67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BookingRequestDate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67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AppointmentDateTime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missing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67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StartDate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missing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67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CompletionTime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missing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67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Status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6834D"/>
                          </a:solidFill>
                        </a:rPr>
                        <a:t>C4C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67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Total QuoteAmount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6834D"/>
                          </a:solidFill>
                        </a:rPr>
                        <a:t>C4C Repair Total Amount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2" name="order-note">
            <a:extLst>
              <a:ext uri="{FF2B5EF4-FFF2-40B4-BE49-F238E27FC236}">
                <a16:creationId xmlns:a16="http://schemas.microsoft.com/office/drawing/2014/main" id="{6EC72AD0-1E1D-49A6-B705-EE95806E960E}"/>
              </a:ext>
            </a:extLst>
          </p:cNvPr>
          <p:cNvSpPr>
            <a:spLocks noGrp="1"/>
          </p:cNvSpPr>
          <p:nvPr/>
        </p:nvSpPr>
        <p:spPr>
          <a:xfrm>
            <a:off x="7239000" y="6315074"/>
            <a:ext cx="5372100" cy="504825"/>
          </a:xfrm>
          <a:prstGeom prst="roundRect">
            <a:avLst>
              <a:gd name="adj" fmla="val 13889"/>
            </a:avLst>
          </a:prstGeom>
          <a:solidFill>
            <a:srgbClr val="FFF1F1"/>
          </a:solidFill>
          <a:ln w="14288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order-note-text">
            <a:extLst>
              <a:ext uri="{FF2B5EF4-FFF2-40B4-BE49-F238E27FC236}">
                <a16:creationId xmlns:a16="http://schemas.microsoft.com/office/drawing/2014/main" id="{3D6C191B-424B-4948-BEA2-E45E26EB1673}"/>
              </a:ext>
            </a:extLst>
          </p:cNvPr>
          <p:cNvSpPr>
            <a:spLocks noGrp="1"/>
          </p:cNvSpPr>
          <p:nvPr/>
        </p:nvSpPr>
        <p:spPr>
          <a:xfrm>
            <a:off x="7391400" y="6267450"/>
            <a:ext cx="5219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8A2525"/>
                </a:solidFill>
              </a:defRPr>
            </a:pPr>
            <a:r>
              <a:rPr sz="1125" b="0">
                <a:solidFill>
                  <a:srgbClr val="8A2525"/>
                </a:solidFill>
              </a:rPr>
              <a:t>Service order fact: main grain for volume, status, lead time, total quote amount and comeback KPIs.</a:t>
            </a:r>
          </a:p>
        </p:txBody>
      </p:sp>
      <p:sp>
        <p:nvSpPr>
          <p:cNvPr id="24" name="invoice-card">
            <a:extLst>
              <a:ext uri="{FF2B5EF4-FFF2-40B4-BE49-F238E27FC236}">
                <a16:creationId xmlns:a16="http://schemas.microsoft.com/office/drawing/2014/main" id="{CFAEF9BE-BBB0-4CEE-A051-5792AA95B289}"/>
              </a:ext>
            </a:extLst>
          </p:cNvPr>
          <p:cNvSpPr>
            <a:spLocks noGrp="1"/>
          </p:cNvSpPr>
          <p:nvPr/>
        </p:nvSpPr>
        <p:spPr>
          <a:xfrm>
            <a:off x="13716000" y="2095500"/>
            <a:ext cx="5524500" cy="390525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4288">
            <a:solidFill>
              <a:srgbClr val="DD222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invoice-header">
            <a:extLst>
              <a:ext uri="{FF2B5EF4-FFF2-40B4-BE49-F238E27FC236}">
                <a16:creationId xmlns:a16="http://schemas.microsoft.com/office/drawing/2014/main" id="{7BEE6337-79B1-491C-B0DD-75DC2BEB57C9}"/>
              </a:ext>
            </a:extLst>
          </p:cNvPr>
          <p:cNvSpPr>
            <a:spLocks noGrp="1"/>
          </p:cNvSpPr>
          <p:nvPr/>
        </p:nvSpPr>
        <p:spPr>
          <a:xfrm>
            <a:off x="13716000" y="2095500"/>
            <a:ext cx="5524500" cy="495300"/>
          </a:xfrm>
          <a:prstGeom prst="rect">
            <a:avLst/>
          </a:prstGeom>
          <a:solidFill>
            <a:srgbClr val="DD2229"/>
          </a:solidFill>
          <a:ln w="9525">
            <a:solidFill>
              <a:srgbClr val="DD222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invoice-badge">
            <a:extLst>
              <a:ext uri="{FF2B5EF4-FFF2-40B4-BE49-F238E27FC236}">
                <a16:creationId xmlns:a16="http://schemas.microsoft.com/office/drawing/2014/main" id="{2840AD6C-5974-44F9-9FAB-6A272868783C}"/>
              </a:ext>
            </a:extLst>
          </p:cNvPr>
          <p:cNvSpPr>
            <a:spLocks noGrp="1"/>
          </p:cNvSpPr>
          <p:nvPr/>
        </p:nvSpPr>
        <p:spPr>
          <a:xfrm>
            <a:off x="13849350" y="2209800"/>
            <a:ext cx="266700" cy="2667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DD2229"/>
                </a:solidFill>
              </a:defRPr>
            </a:pPr>
            <a:r>
              <a:rPr sz="975" b="1">
                <a:solidFill>
                  <a:srgbClr val="DD2229"/>
                </a:solidFill>
              </a:rPr>
              <a:t>I</a:t>
            </a:r>
          </a:p>
        </p:txBody>
      </p:sp>
      <p:sp>
        <p:nvSpPr>
          <p:cNvPr id="27" name="invoice-title">
            <a:extLst>
              <a:ext uri="{FF2B5EF4-FFF2-40B4-BE49-F238E27FC236}">
                <a16:creationId xmlns:a16="http://schemas.microsoft.com/office/drawing/2014/main" id="{2926DB41-1F90-4D68-ACB8-D18BA634BE36}"/>
              </a:ext>
            </a:extLst>
          </p:cNvPr>
          <p:cNvSpPr>
            <a:spLocks noGrp="1"/>
          </p:cNvSpPr>
          <p:nvPr/>
        </p:nvSpPr>
        <p:spPr>
          <a:xfrm>
            <a:off x="14230350" y="220980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6. FACT_INVOICE</a:t>
            </a:r>
          </a:p>
        </p:txBody>
      </p:sp>
      <p:graphicFrame>
        <p:nvGraphicFramePr>
          <p:cNvPr id="105" name="Table 104"/>
          <p:cNvGraphicFramePr/>
          <p:nvPr>
            <p:extLst>
              <p:ext uri="{D42A27DB-BD31-4B8C-83A1-F6EECF244321}">
                <p14:modId xmlns:p14="http://schemas.microsoft.com/office/powerpoint/2010/main" val="3317678488"/>
              </p:ext>
            </p:extLst>
          </p:nvPr>
        </p:nvGraphicFramePr>
        <p:xfrm>
          <a:off x="13715999" y="2602072"/>
          <a:ext cx="5505451" cy="3490848"/>
        </p:xfrm>
        <a:graphic>
          <a:graphicData uri="http://schemas.openxmlformats.org/drawingml/2006/table">
            <a:tbl>
              <a:tblPr/>
              <a:tblGrid>
                <a:gridCol w="26067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3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613">
                <a:tc>
                  <a:txBody>
                    <a:bodyPr/>
                    <a:lstStyle/>
                    <a:p>
                      <a:r>
                        <a:rPr sz="975" b="1" dirty="0">
                          <a:solidFill>
                            <a:srgbClr val="475569"/>
                          </a:solidFill>
                        </a:rPr>
                        <a:t>Field</a:t>
                      </a:r>
                    </a:p>
                  </a:txBody>
                  <a:tcPr marL="57150" marR="57150" marT="19050" marB="190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75569"/>
                          </a:solidFill>
                        </a:rPr>
                        <a:t>Source</a:t>
                      </a:r>
                    </a:p>
                  </a:txBody>
                  <a:tcPr marL="57150" marR="57150" marT="19050" marB="190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75569"/>
                          </a:solidFill>
                        </a:rPr>
                        <a:t>Key</a:t>
                      </a:r>
                    </a:p>
                  </a:txBody>
                  <a:tcPr marL="57150" marR="57150" marT="19050" marB="1905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6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InvoiceID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BD3A2D"/>
                          </a:solidFill>
                        </a:rPr>
                        <a:t>SAP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PK</a:t>
                      </a:r>
                    </a:p>
                  </a:txBody>
                  <a:tcPr marL="57150" marR="57150" marT="9525" marB="9525">
                    <a:solidFill>
                      <a:srgbClr val="F6B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6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ServiceOrderID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6834D"/>
                          </a:solidFill>
                        </a:rPr>
                        <a:t>C4C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FK</a:t>
                      </a:r>
                    </a:p>
                  </a:txBody>
                  <a:tcPr marL="57150" marR="57150" marT="9525" marB="9525">
                    <a:solidFill>
                      <a:srgbClr val="32B5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00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InvoiceNo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6834D"/>
                          </a:solidFill>
                        </a:rPr>
                        <a:t>SAP / C4C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00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InvoiceType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6834D"/>
                          </a:solidFill>
                        </a:rPr>
                        <a:t>C4C external/internal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00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InvoiceDate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BD3A2D"/>
                          </a:solidFill>
                        </a:rPr>
                        <a:t>SAP Billing date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00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InvoiceStatus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BD3A2D"/>
                          </a:solidFill>
                        </a:rPr>
                        <a:t>SAP not decline/cancel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00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InvoiceAmount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BD3A2D"/>
                          </a:solidFill>
                        </a:rPr>
                        <a:t>SAP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00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LabourRevenueAmount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tbc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00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PartsRevenueAmount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00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HoursBilled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BD3A2D"/>
                          </a:solidFill>
                        </a:rPr>
                        <a:t>SAP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00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PaidAmount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BD3A2D"/>
                          </a:solidFill>
                        </a:rPr>
                        <a:t>SAP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9" name="invoice-note">
            <a:extLst>
              <a:ext uri="{FF2B5EF4-FFF2-40B4-BE49-F238E27FC236}">
                <a16:creationId xmlns:a16="http://schemas.microsoft.com/office/drawing/2014/main" id="{C95E10EF-70B9-4B2B-B18F-E6C629488E01}"/>
              </a:ext>
            </a:extLst>
          </p:cNvPr>
          <p:cNvSpPr>
            <a:spLocks noGrp="1"/>
          </p:cNvSpPr>
          <p:nvPr/>
        </p:nvSpPr>
        <p:spPr>
          <a:xfrm>
            <a:off x="13716000" y="6134100"/>
            <a:ext cx="5524500" cy="685800"/>
          </a:xfrm>
          <a:prstGeom prst="roundRect">
            <a:avLst>
              <a:gd name="adj" fmla="val 13889"/>
            </a:avLst>
          </a:prstGeom>
          <a:solidFill>
            <a:srgbClr val="FFF1F1"/>
          </a:solidFill>
          <a:ln w="14288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invoice-note-text">
            <a:extLst>
              <a:ext uri="{FF2B5EF4-FFF2-40B4-BE49-F238E27FC236}">
                <a16:creationId xmlns:a16="http://schemas.microsoft.com/office/drawing/2014/main" id="{268D5521-21E7-48B4-9325-8AE88E082BB7}"/>
              </a:ext>
            </a:extLst>
          </p:cNvPr>
          <p:cNvSpPr>
            <a:spLocks noGrp="1"/>
          </p:cNvSpPr>
          <p:nvPr/>
        </p:nvSpPr>
        <p:spPr>
          <a:xfrm>
            <a:off x="13868400" y="6267450"/>
            <a:ext cx="5219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8A2525"/>
                </a:solidFill>
              </a:defRPr>
            </a:pPr>
            <a:r>
              <a:rPr sz="1125" b="0">
                <a:solidFill>
                  <a:srgbClr val="8A2525"/>
                </a:solidFill>
              </a:rPr>
              <a:t>Invoice fact: header plus margin split for ARO, gross margin, paid amount and absorption KPIs.</a:t>
            </a:r>
          </a:p>
        </p:txBody>
      </p:sp>
      <p:sp>
        <p:nvSpPr>
          <p:cNvPr id="31" name="tech-card">
            <a:extLst>
              <a:ext uri="{FF2B5EF4-FFF2-40B4-BE49-F238E27FC236}">
                <a16:creationId xmlns:a16="http://schemas.microsoft.com/office/drawing/2014/main" id="{1BB28600-AD2E-4858-A19E-BF15AEDB46B3}"/>
              </a:ext>
            </a:extLst>
          </p:cNvPr>
          <p:cNvSpPr>
            <a:spLocks noGrp="1"/>
          </p:cNvSpPr>
          <p:nvPr/>
        </p:nvSpPr>
        <p:spPr>
          <a:xfrm>
            <a:off x="762000" y="6667500"/>
            <a:ext cx="552450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4288">
            <a:solidFill>
              <a:srgbClr val="1976C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ch-header">
            <a:extLst>
              <a:ext uri="{FF2B5EF4-FFF2-40B4-BE49-F238E27FC236}">
                <a16:creationId xmlns:a16="http://schemas.microsoft.com/office/drawing/2014/main" id="{1BAEFC3A-8BFC-47C4-8485-B8DA9DDA79BA}"/>
              </a:ext>
            </a:extLst>
          </p:cNvPr>
          <p:cNvSpPr>
            <a:spLocks noGrp="1"/>
          </p:cNvSpPr>
          <p:nvPr/>
        </p:nvSpPr>
        <p:spPr>
          <a:xfrm>
            <a:off x="762000" y="6667500"/>
            <a:ext cx="5524500" cy="495300"/>
          </a:xfrm>
          <a:prstGeom prst="rect">
            <a:avLst/>
          </a:prstGeom>
          <a:solidFill>
            <a:srgbClr val="1976C9"/>
          </a:solidFill>
          <a:ln w="9525">
            <a:solidFill>
              <a:srgbClr val="1976C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ch-badge">
            <a:extLst>
              <a:ext uri="{FF2B5EF4-FFF2-40B4-BE49-F238E27FC236}">
                <a16:creationId xmlns:a16="http://schemas.microsoft.com/office/drawing/2014/main" id="{01087353-B826-407B-8394-35E3B0FACE76}"/>
              </a:ext>
            </a:extLst>
          </p:cNvPr>
          <p:cNvSpPr>
            <a:spLocks noGrp="1"/>
          </p:cNvSpPr>
          <p:nvPr/>
        </p:nvSpPr>
        <p:spPr>
          <a:xfrm>
            <a:off x="895350" y="6781800"/>
            <a:ext cx="266700" cy="2667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976C9"/>
                </a:solidFill>
              </a:defRPr>
            </a:pPr>
            <a:r>
              <a:rPr sz="975" b="1">
                <a:solidFill>
                  <a:srgbClr val="1976C9"/>
                </a:solidFill>
              </a:rPr>
              <a:t>T</a:t>
            </a:r>
          </a:p>
        </p:txBody>
      </p:sp>
      <p:sp>
        <p:nvSpPr>
          <p:cNvPr id="34" name="tech-title">
            <a:extLst>
              <a:ext uri="{FF2B5EF4-FFF2-40B4-BE49-F238E27FC236}">
                <a16:creationId xmlns:a16="http://schemas.microsoft.com/office/drawing/2014/main" id="{B37364E6-0276-4CF3-AB1B-F12325BEDEEE}"/>
              </a:ext>
            </a:extLst>
          </p:cNvPr>
          <p:cNvSpPr>
            <a:spLocks noGrp="1"/>
          </p:cNvSpPr>
          <p:nvPr/>
        </p:nvSpPr>
        <p:spPr>
          <a:xfrm>
            <a:off x="1276350" y="678180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5. DIM_TECHNICIAN</a:t>
            </a:r>
          </a:p>
        </p:txBody>
      </p:sp>
      <p:graphicFrame>
        <p:nvGraphicFramePr>
          <p:cNvPr id="112" name="Table 111"/>
          <p:cNvGraphicFramePr/>
          <p:nvPr>
            <p:extLst>
              <p:ext uri="{D42A27DB-BD31-4B8C-83A1-F6EECF244321}">
                <p14:modId xmlns:p14="http://schemas.microsoft.com/office/powerpoint/2010/main" val="693268724"/>
              </p:ext>
            </p:extLst>
          </p:nvPr>
        </p:nvGraphicFramePr>
        <p:xfrm>
          <a:off x="742951" y="7162800"/>
          <a:ext cx="5543547" cy="1162050"/>
        </p:xfrm>
        <a:graphic>
          <a:graphicData uri="http://schemas.openxmlformats.org/drawingml/2006/table">
            <a:tbl>
              <a:tblPr/>
              <a:tblGrid>
                <a:gridCol w="2624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9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083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75569"/>
                          </a:solidFill>
                        </a:rPr>
                        <a:t>Field</a:t>
                      </a:r>
                    </a:p>
                  </a:txBody>
                  <a:tcPr marL="57150" marR="57150" marT="19050" marB="190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75569"/>
                          </a:solidFill>
                        </a:rPr>
                        <a:t>Source</a:t>
                      </a:r>
                    </a:p>
                  </a:txBody>
                  <a:tcPr marL="57150" marR="57150" marT="19050" marB="190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 dirty="0">
                          <a:solidFill>
                            <a:srgbClr val="475569"/>
                          </a:solidFill>
                        </a:rPr>
                        <a:t>Key</a:t>
                      </a:r>
                    </a:p>
                  </a:txBody>
                  <a:tcPr marL="57150" marR="57150" marT="19050" marB="1905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8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TechnicianID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6834D"/>
                          </a:solidFill>
                        </a:rPr>
                        <a:t>C4C assign to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PK</a:t>
                      </a:r>
                    </a:p>
                  </a:txBody>
                  <a:tcPr marL="57150" marR="57150" marT="9525" marB="9525">
                    <a:solidFill>
                      <a:srgbClr val="F6B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19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TechnicianName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6834D"/>
                          </a:solidFill>
                        </a:rPr>
                        <a:t>C4C assign to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19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ServiceCentre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missing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tech-note">
            <a:extLst>
              <a:ext uri="{FF2B5EF4-FFF2-40B4-BE49-F238E27FC236}">
                <a16:creationId xmlns:a16="http://schemas.microsoft.com/office/drawing/2014/main" id="{B04EF39C-3166-439F-A6E0-184C7037AF33}"/>
              </a:ext>
            </a:extLst>
          </p:cNvPr>
          <p:cNvSpPr>
            <a:spLocks noGrp="1"/>
          </p:cNvSpPr>
          <p:nvPr/>
        </p:nvSpPr>
        <p:spPr>
          <a:xfrm>
            <a:off x="762000" y="8420100"/>
            <a:ext cx="5524500" cy="685800"/>
          </a:xfrm>
          <a:prstGeom prst="roundRect">
            <a:avLst>
              <a:gd name="adj" fmla="val 13889"/>
            </a:avLst>
          </a:prstGeom>
          <a:solidFill>
            <a:srgbClr val="EEF6FF"/>
          </a:solidFill>
          <a:ln w="14288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ch-note-text">
            <a:extLst>
              <a:ext uri="{FF2B5EF4-FFF2-40B4-BE49-F238E27FC236}">
                <a16:creationId xmlns:a16="http://schemas.microsoft.com/office/drawing/2014/main" id="{987350FE-933D-4484-9E7A-45B6D4F4D703}"/>
              </a:ext>
            </a:extLst>
          </p:cNvPr>
          <p:cNvSpPr>
            <a:spLocks noGrp="1"/>
          </p:cNvSpPr>
          <p:nvPr/>
        </p:nvSpPr>
        <p:spPr>
          <a:xfrm>
            <a:off x="914400" y="8553450"/>
            <a:ext cx="5219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7557E"/>
                </a:solidFill>
              </a:defRPr>
            </a:pPr>
            <a:r>
              <a:rPr sz="1125" b="0">
                <a:solidFill>
                  <a:srgbClr val="27557E"/>
                </a:solidFill>
              </a:rPr>
              <a:t>Technician master: supports productivity, efficiency and utilisation KPI grouping.</a:t>
            </a:r>
          </a:p>
        </p:txBody>
      </p:sp>
      <p:sp>
        <p:nvSpPr>
          <p:cNvPr id="38" name="quote-card">
            <a:extLst>
              <a:ext uri="{FF2B5EF4-FFF2-40B4-BE49-F238E27FC236}">
                <a16:creationId xmlns:a16="http://schemas.microsoft.com/office/drawing/2014/main" id="{3C45CE98-C955-4EDC-8AEA-E1BD1693BD34}"/>
              </a:ext>
            </a:extLst>
          </p:cNvPr>
          <p:cNvSpPr>
            <a:spLocks noGrp="1"/>
          </p:cNvSpPr>
          <p:nvPr/>
        </p:nvSpPr>
        <p:spPr>
          <a:xfrm>
            <a:off x="7239000" y="6667500"/>
            <a:ext cx="5524500" cy="4105275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4288">
            <a:solidFill>
              <a:srgbClr val="DD222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quote-header">
            <a:extLst>
              <a:ext uri="{FF2B5EF4-FFF2-40B4-BE49-F238E27FC236}">
                <a16:creationId xmlns:a16="http://schemas.microsoft.com/office/drawing/2014/main" id="{84973025-4DE7-419F-AFE9-0D090BEF22C9}"/>
              </a:ext>
            </a:extLst>
          </p:cNvPr>
          <p:cNvSpPr>
            <a:spLocks noGrp="1"/>
          </p:cNvSpPr>
          <p:nvPr/>
        </p:nvSpPr>
        <p:spPr>
          <a:xfrm>
            <a:off x="7239000" y="6667500"/>
            <a:ext cx="5524500" cy="495300"/>
          </a:xfrm>
          <a:prstGeom prst="rect">
            <a:avLst/>
          </a:prstGeom>
          <a:solidFill>
            <a:srgbClr val="DD2229"/>
          </a:solidFill>
          <a:ln w="9525">
            <a:solidFill>
              <a:srgbClr val="DD222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quote-badge">
            <a:extLst>
              <a:ext uri="{FF2B5EF4-FFF2-40B4-BE49-F238E27FC236}">
                <a16:creationId xmlns:a16="http://schemas.microsoft.com/office/drawing/2014/main" id="{ACE61EC3-66C7-4D79-AA06-1D4C1873941E}"/>
              </a:ext>
            </a:extLst>
          </p:cNvPr>
          <p:cNvSpPr>
            <a:spLocks noGrp="1"/>
          </p:cNvSpPr>
          <p:nvPr/>
        </p:nvSpPr>
        <p:spPr>
          <a:xfrm>
            <a:off x="7372350" y="6781800"/>
            <a:ext cx="266700" cy="2667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DD2229"/>
                </a:solidFill>
              </a:defRPr>
            </a:pPr>
            <a:r>
              <a:rPr sz="975" b="1">
                <a:solidFill>
                  <a:srgbClr val="DD2229"/>
                </a:solidFill>
              </a:rPr>
              <a:t>Q</a:t>
            </a:r>
          </a:p>
        </p:txBody>
      </p:sp>
      <p:sp>
        <p:nvSpPr>
          <p:cNvPr id="41" name="quote-title">
            <a:extLst>
              <a:ext uri="{FF2B5EF4-FFF2-40B4-BE49-F238E27FC236}">
                <a16:creationId xmlns:a16="http://schemas.microsoft.com/office/drawing/2014/main" id="{51B37C3B-7BE6-4FC3-89A8-C7FA4EE0E9A9}"/>
              </a:ext>
            </a:extLst>
          </p:cNvPr>
          <p:cNvSpPr>
            <a:spLocks noGrp="1"/>
          </p:cNvSpPr>
          <p:nvPr/>
        </p:nvSpPr>
        <p:spPr>
          <a:xfrm>
            <a:off x="7753350" y="678180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2A. FACT_QUOTE</a:t>
            </a:r>
          </a:p>
        </p:txBody>
      </p:sp>
      <p:graphicFrame>
        <p:nvGraphicFramePr>
          <p:cNvPr id="119" name="Table 118"/>
          <p:cNvGraphicFramePr/>
          <p:nvPr>
            <p:extLst>
              <p:ext uri="{D42A27DB-BD31-4B8C-83A1-F6EECF244321}">
                <p14:modId xmlns:p14="http://schemas.microsoft.com/office/powerpoint/2010/main" val="2144375515"/>
              </p:ext>
            </p:extLst>
          </p:nvPr>
        </p:nvGraphicFramePr>
        <p:xfrm>
          <a:off x="7219950" y="7143750"/>
          <a:ext cx="5543550" cy="3798566"/>
        </p:xfrm>
        <a:graphic>
          <a:graphicData uri="http://schemas.openxmlformats.org/drawingml/2006/table">
            <a:tbl>
              <a:tblPr/>
              <a:tblGrid>
                <a:gridCol w="2624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9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801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75569"/>
                          </a:solidFill>
                        </a:rPr>
                        <a:t>Field</a:t>
                      </a:r>
                    </a:p>
                  </a:txBody>
                  <a:tcPr marL="57150" marR="57150" marT="19050" marB="190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75569"/>
                          </a:solidFill>
                        </a:rPr>
                        <a:t>Source</a:t>
                      </a:r>
                    </a:p>
                  </a:txBody>
                  <a:tcPr marL="57150" marR="57150" marT="19050" marB="190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75569"/>
                          </a:solidFill>
                        </a:rPr>
                        <a:t>Key</a:t>
                      </a:r>
                    </a:p>
                  </a:txBody>
                  <a:tcPr marL="57150" marR="57150" marT="19050" marB="1905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QuoteID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6834D"/>
                          </a:solidFill>
                        </a:rPr>
                        <a:t>C4C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PK</a:t>
                      </a:r>
                    </a:p>
                  </a:txBody>
                  <a:tcPr marL="57150" marR="57150" marT="9525" marB="9525">
                    <a:solidFill>
                      <a:srgbClr val="F6B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ServiceOrderID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6834D"/>
                          </a:solidFill>
                        </a:rPr>
                        <a:t>C4C Ticket ID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FK</a:t>
                      </a:r>
                    </a:p>
                  </a:txBody>
                  <a:tcPr marL="57150" marR="57150" marT="9525" marB="9525">
                    <a:solidFill>
                      <a:srgbClr val="32B5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444">
                <a:tc>
                  <a:txBody>
                    <a:bodyPr/>
                    <a:lstStyle/>
                    <a:p>
                      <a:r>
                        <a:rPr sz="1050" dirty="0" err="1">
                          <a:solidFill>
                            <a:srgbClr val="172033"/>
                          </a:solidFill>
                        </a:rPr>
                        <a:t>IssueID</a:t>
                      </a:r>
                      <a:endParaRPr sz="1050" dirty="0">
                        <a:solidFill>
                          <a:srgbClr val="172033"/>
                        </a:solidFill>
                      </a:endParaRP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6834D"/>
                          </a:solidFill>
                        </a:rPr>
                        <a:t>C4C Issue ID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44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IssuesPosition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44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IssuesDescription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44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Subcategory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44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SubcategoryReason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44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RepairItem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44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RepairItemDescription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44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HoursOfLabour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44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UnitPrice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44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PartTotalAmount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544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QuoteAmount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3" name="quote-note">
            <a:extLst>
              <a:ext uri="{FF2B5EF4-FFF2-40B4-BE49-F238E27FC236}">
                <a16:creationId xmlns:a16="http://schemas.microsoft.com/office/drawing/2014/main" id="{A573CE2C-9FB9-4699-8BB7-5DB0716120AF}"/>
              </a:ext>
            </a:extLst>
          </p:cNvPr>
          <p:cNvSpPr>
            <a:spLocks noGrp="1"/>
          </p:cNvSpPr>
          <p:nvPr/>
        </p:nvSpPr>
        <p:spPr>
          <a:xfrm>
            <a:off x="7239000" y="11087100"/>
            <a:ext cx="5543550" cy="504825"/>
          </a:xfrm>
          <a:prstGeom prst="roundRect">
            <a:avLst>
              <a:gd name="adj" fmla="val 13889"/>
            </a:avLst>
          </a:prstGeom>
          <a:solidFill>
            <a:srgbClr val="FFF1F1"/>
          </a:solidFill>
          <a:ln w="14288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quote-note-text">
            <a:extLst>
              <a:ext uri="{FF2B5EF4-FFF2-40B4-BE49-F238E27FC236}">
                <a16:creationId xmlns:a16="http://schemas.microsoft.com/office/drawing/2014/main" id="{A6FD19A2-433C-4657-AECC-DE96B483EEB8}"/>
              </a:ext>
            </a:extLst>
          </p:cNvPr>
          <p:cNvSpPr>
            <a:spLocks noGrp="1"/>
          </p:cNvSpPr>
          <p:nvPr/>
        </p:nvSpPr>
        <p:spPr>
          <a:xfrm>
            <a:off x="7391400" y="11039475"/>
            <a:ext cx="5219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8A2525"/>
                </a:solidFill>
              </a:defRPr>
            </a:pPr>
            <a:r>
              <a:rPr sz="1125" b="0">
                <a:solidFill>
                  <a:srgbClr val="8A2525"/>
                </a:solidFill>
              </a:rPr>
              <a:t>Quote fact: one Service Order can have multiple quote rows.</a:t>
            </a:r>
          </a:p>
        </p:txBody>
      </p:sp>
      <p:sp>
        <p:nvSpPr>
          <p:cNvPr id="45" name="labour-card">
            <a:extLst>
              <a:ext uri="{FF2B5EF4-FFF2-40B4-BE49-F238E27FC236}">
                <a16:creationId xmlns:a16="http://schemas.microsoft.com/office/drawing/2014/main" id="{AC9D711D-3344-4CDE-88F3-8DD158E11B6A}"/>
              </a:ext>
            </a:extLst>
          </p:cNvPr>
          <p:cNvSpPr>
            <a:spLocks noGrp="1"/>
          </p:cNvSpPr>
          <p:nvPr/>
        </p:nvSpPr>
        <p:spPr>
          <a:xfrm>
            <a:off x="13716000" y="6667500"/>
            <a:ext cx="5524500" cy="27622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4288">
            <a:solidFill>
              <a:srgbClr val="DD222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6" name="labour-header">
            <a:extLst>
              <a:ext uri="{FF2B5EF4-FFF2-40B4-BE49-F238E27FC236}">
                <a16:creationId xmlns:a16="http://schemas.microsoft.com/office/drawing/2014/main" id="{77AC6E5B-ABCE-4C39-AF8A-601D9F0849DE}"/>
              </a:ext>
            </a:extLst>
          </p:cNvPr>
          <p:cNvSpPr>
            <a:spLocks noGrp="1"/>
          </p:cNvSpPr>
          <p:nvPr/>
        </p:nvSpPr>
        <p:spPr>
          <a:xfrm>
            <a:off x="13716000" y="6667500"/>
            <a:ext cx="5524500" cy="495300"/>
          </a:xfrm>
          <a:prstGeom prst="rect">
            <a:avLst/>
          </a:prstGeom>
          <a:solidFill>
            <a:srgbClr val="DD2229"/>
          </a:solidFill>
          <a:ln w="9525">
            <a:solidFill>
              <a:srgbClr val="DD222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labour-badge">
            <a:extLst>
              <a:ext uri="{FF2B5EF4-FFF2-40B4-BE49-F238E27FC236}">
                <a16:creationId xmlns:a16="http://schemas.microsoft.com/office/drawing/2014/main" id="{44257D21-4B11-4286-8A58-DC38B209ABCE}"/>
              </a:ext>
            </a:extLst>
          </p:cNvPr>
          <p:cNvSpPr>
            <a:spLocks noGrp="1"/>
          </p:cNvSpPr>
          <p:nvPr/>
        </p:nvSpPr>
        <p:spPr>
          <a:xfrm>
            <a:off x="13849350" y="6781800"/>
            <a:ext cx="266700" cy="2667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DD2229"/>
                </a:solidFill>
              </a:defRPr>
            </a:pPr>
            <a:r>
              <a:rPr sz="975" b="1">
                <a:solidFill>
                  <a:srgbClr val="DD2229"/>
                </a:solidFill>
              </a:rPr>
              <a:t>L</a:t>
            </a:r>
          </a:p>
        </p:txBody>
      </p:sp>
      <p:sp>
        <p:nvSpPr>
          <p:cNvPr id="48" name="labour-title">
            <a:extLst>
              <a:ext uri="{FF2B5EF4-FFF2-40B4-BE49-F238E27FC236}">
                <a16:creationId xmlns:a16="http://schemas.microsoft.com/office/drawing/2014/main" id="{1E43022D-DDFD-4F9F-BDDC-FBB2368F77FA}"/>
              </a:ext>
            </a:extLst>
          </p:cNvPr>
          <p:cNvSpPr>
            <a:spLocks noGrp="1"/>
          </p:cNvSpPr>
          <p:nvPr/>
        </p:nvSpPr>
        <p:spPr>
          <a:xfrm>
            <a:off x="14230350" y="678180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4. FACT_LABOUR</a:t>
            </a:r>
          </a:p>
        </p:txBody>
      </p:sp>
      <p:graphicFrame>
        <p:nvGraphicFramePr>
          <p:cNvPr id="126" name="Table 125"/>
          <p:cNvGraphicFramePr/>
          <p:nvPr>
            <p:extLst>
              <p:ext uri="{D42A27DB-BD31-4B8C-83A1-F6EECF244321}">
                <p14:modId xmlns:p14="http://schemas.microsoft.com/office/powerpoint/2010/main" val="861456267"/>
              </p:ext>
            </p:extLst>
          </p:nvPr>
        </p:nvGraphicFramePr>
        <p:xfrm>
          <a:off x="13715999" y="7181850"/>
          <a:ext cx="5524499" cy="2322353"/>
        </p:xfrm>
        <a:graphic>
          <a:graphicData uri="http://schemas.openxmlformats.org/drawingml/2006/table">
            <a:tbl>
              <a:tblPr/>
              <a:tblGrid>
                <a:gridCol w="2615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763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75569"/>
                          </a:solidFill>
                        </a:rPr>
                        <a:t>Field</a:t>
                      </a:r>
                    </a:p>
                  </a:txBody>
                  <a:tcPr marL="57150" marR="57150" marT="19050" marB="190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 dirty="0">
                          <a:solidFill>
                            <a:srgbClr val="475569"/>
                          </a:solidFill>
                        </a:rPr>
                        <a:t>Source</a:t>
                      </a:r>
                    </a:p>
                  </a:txBody>
                  <a:tcPr marL="57150" marR="57150" marT="19050" marB="190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75569"/>
                          </a:solidFill>
                        </a:rPr>
                        <a:t>Key</a:t>
                      </a:r>
                    </a:p>
                  </a:txBody>
                  <a:tcPr marL="57150" marR="57150" marT="19050" marB="1905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9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LabourID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PK</a:t>
                      </a:r>
                    </a:p>
                  </a:txBody>
                  <a:tcPr marL="57150" marR="57150" marT="9525" marB="9525">
                    <a:solidFill>
                      <a:srgbClr val="F6B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9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TaskID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FK</a:t>
                      </a:r>
                    </a:p>
                  </a:txBody>
                  <a:tcPr marL="57150" marR="57150" marT="9525" marB="9525">
                    <a:solidFill>
                      <a:srgbClr val="32B5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9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TechnicianID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FK</a:t>
                      </a:r>
                    </a:p>
                  </a:txBody>
                  <a:tcPr marL="57150" marR="57150" marT="9525" marB="9525">
                    <a:solidFill>
                      <a:srgbClr val="32B5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9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SoldHours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6834D"/>
                          </a:solidFill>
                        </a:rPr>
                        <a:t>C4C ClaimHours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9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ProductivityHours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ActualWorkHours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9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AvailableHours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HR Payslip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9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NonProductiveHours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missing PH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0" name="labour-note">
            <a:extLst>
              <a:ext uri="{FF2B5EF4-FFF2-40B4-BE49-F238E27FC236}">
                <a16:creationId xmlns:a16="http://schemas.microsoft.com/office/drawing/2014/main" id="{54F05179-0ABD-43F9-8FAB-64B51A67920F}"/>
              </a:ext>
            </a:extLst>
          </p:cNvPr>
          <p:cNvSpPr>
            <a:spLocks noGrp="1"/>
          </p:cNvSpPr>
          <p:nvPr/>
        </p:nvSpPr>
        <p:spPr>
          <a:xfrm>
            <a:off x="13716000" y="9563100"/>
            <a:ext cx="5524500" cy="685800"/>
          </a:xfrm>
          <a:prstGeom prst="roundRect">
            <a:avLst>
              <a:gd name="adj" fmla="val 13889"/>
            </a:avLst>
          </a:prstGeom>
          <a:solidFill>
            <a:srgbClr val="FFF1F1"/>
          </a:solidFill>
          <a:ln w="14288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1" name="labour-note-text">
            <a:extLst>
              <a:ext uri="{FF2B5EF4-FFF2-40B4-BE49-F238E27FC236}">
                <a16:creationId xmlns:a16="http://schemas.microsoft.com/office/drawing/2014/main" id="{1322F9E9-4DB0-46ED-BC94-67B27CDEFD80}"/>
              </a:ext>
            </a:extLst>
          </p:cNvPr>
          <p:cNvSpPr>
            <a:spLocks noGrp="1"/>
          </p:cNvSpPr>
          <p:nvPr/>
        </p:nvSpPr>
        <p:spPr>
          <a:xfrm>
            <a:off x="13868400" y="9696450"/>
            <a:ext cx="5219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8A2525"/>
                </a:solidFill>
              </a:defRPr>
            </a:pPr>
            <a:r>
              <a:rPr sz="1125" b="0">
                <a:solidFill>
                  <a:srgbClr val="8A2525"/>
                </a:solidFill>
              </a:rPr>
              <a:t>Labour fact: labour hours plus capacity fields for productivity, efficiency and utilisation.</a:t>
            </a:r>
          </a:p>
        </p:txBody>
      </p:sp>
      <p:sp>
        <p:nvSpPr>
          <p:cNvPr id="52" name="task-card">
            <a:extLst>
              <a:ext uri="{FF2B5EF4-FFF2-40B4-BE49-F238E27FC236}">
                <a16:creationId xmlns:a16="http://schemas.microsoft.com/office/drawing/2014/main" id="{F51282F1-0AC8-4F1E-819C-EF77727F1D41}"/>
              </a:ext>
            </a:extLst>
          </p:cNvPr>
          <p:cNvSpPr>
            <a:spLocks noGrp="1"/>
          </p:cNvSpPr>
          <p:nvPr/>
        </p:nvSpPr>
        <p:spPr>
          <a:xfrm>
            <a:off x="7239000" y="11334750"/>
            <a:ext cx="5524500" cy="32385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4288">
            <a:solidFill>
              <a:srgbClr val="DD222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3" name="task-header">
            <a:extLst>
              <a:ext uri="{FF2B5EF4-FFF2-40B4-BE49-F238E27FC236}">
                <a16:creationId xmlns:a16="http://schemas.microsoft.com/office/drawing/2014/main" id="{B042084A-76CC-4D37-A45E-14E2D4B6938B}"/>
              </a:ext>
            </a:extLst>
          </p:cNvPr>
          <p:cNvSpPr>
            <a:spLocks noGrp="1"/>
          </p:cNvSpPr>
          <p:nvPr/>
        </p:nvSpPr>
        <p:spPr>
          <a:xfrm>
            <a:off x="7238999" y="11344275"/>
            <a:ext cx="5524500" cy="495300"/>
          </a:xfrm>
          <a:prstGeom prst="rect">
            <a:avLst/>
          </a:prstGeom>
          <a:solidFill>
            <a:srgbClr val="DD2229"/>
          </a:solidFill>
          <a:ln w="9525">
            <a:solidFill>
              <a:srgbClr val="DD222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4" name="task-badge">
            <a:extLst>
              <a:ext uri="{FF2B5EF4-FFF2-40B4-BE49-F238E27FC236}">
                <a16:creationId xmlns:a16="http://schemas.microsoft.com/office/drawing/2014/main" id="{F2226F00-E943-4D65-A592-61A6CF436DB2}"/>
              </a:ext>
            </a:extLst>
          </p:cNvPr>
          <p:cNvSpPr>
            <a:spLocks noGrp="1"/>
          </p:cNvSpPr>
          <p:nvPr/>
        </p:nvSpPr>
        <p:spPr>
          <a:xfrm>
            <a:off x="7372350" y="11449050"/>
            <a:ext cx="266700" cy="2667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DD2229"/>
                </a:solidFill>
              </a:defRPr>
            </a:pPr>
            <a:r>
              <a:rPr sz="975" b="1">
                <a:solidFill>
                  <a:srgbClr val="DD2229"/>
                </a:solidFill>
              </a:rPr>
              <a:t>R</a:t>
            </a:r>
          </a:p>
        </p:txBody>
      </p:sp>
      <p:sp>
        <p:nvSpPr>
          <p:cNvPr id="55" name="task-title">
            <a:extLst>
              <a:ext uri="{FF2B5EF4-FFF2-40B4-BE49-F238E27FC236}">
                <a16:creationId xmlns:a16="http://schemas.microsoft.com/office/drawing/2014/main" id="{A2FD5C7C-A842-4EB5-AB91-07DD608D4A75}"/>
              </a:ext>
            </a:extLst>
          </p:cNvPr>
          <p:cNvSpPr>
            <a:spLocks noGrp="1"/>
          </p:cNvSpPr>
          <p:nvPr/>
        </p:nvSpPr>
        <p:spPr>
          <a:xfrm>
            <a:off x="7753350" y="1144905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 dirty="0">
                <a:solidFill>
                  <a:srgbClr val="FFFFFF"/>
                </a:solidFill>
              </a:rPr>
              <a:t>3. FACT_SERVICE_TASK</a:t>
            </a:r>
          </a:p>
        </p:txBody>
      </p:sp>
      <p:graphicFrame>
        <p:nvGraphicFramePr>
          <p:cNvPr id="133" name="Table 132"/>
          <p:cNvGraphicFramePr/>
          <p:nvPr>
            <p:extLst>
              <p:ext uri="{D42A27DB-BD31-4B8C-83A1-F6EECF244321}">
                <p14:modId xmlns:p14="http://schemas.microsoft.com/office/powerpoint/2010/main" val="3307665656"/>
              </p:ext>
            </p:extLst>
          </p:nvPr>
        </p:nvGraphicFramePr>
        <p:xfrm>
          <a:off x="7239001" y="11830050"/>
          <a:ext cx="5524499" cy="3025147"/>
        </p:xfrm>
        <a:graphic>
          <a:graphicData uri="http://schemas.openxmlformats.org/drawingml/2006/table">
            <a:tbl>
              <a:tblPr/>
              <a:tblGrid>
                <a:gridCol w="2615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5299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75569"/>
                          </a:solidFill>
                        </a:rPr>
                        <a:t>Field</a:t>
                      </a:r>
                    </a:p>
                  </a:txBody>
                  <a:tcPr marL="57150" marR="57150" marT="19050" marB="190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75569"/>
                          </a:solidFill>
                        </a:rPr>
                        <a:t>Source</a:t>
                      </a:r>
                    </a:p>
                  </a:txBody>
                  <a:tcPr marL="57150" marR="57150" marT="19050" marB="190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75569"/>
                          </a:solidFill>
                        </a:rPr>
                        <a:t>Key</a:t>
                      </a:r>
                    </a:p>
                  </a:txBody>
                  <a:tcPr marL="57150" marR="57150" marT="19050" marB="1905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89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TaskID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PK</a:t>
                      </a:r>
                    </a:p>
                  </a:txBody>
                  <a:tcPr marL="57150" marR="57150" marT="9525" marB="9525">
                    <a:solidFill>
                      <a:srgbClr val="F6B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32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ServiceOrderID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6834D"/>
                          </a:solidFill>
                        </a:rPr>
                        <a:t>C4C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FK</a:t>
                      </a:r>
                    </a:p>
                  </a:txBody>
                  <a:tcPr marL="57150" marR="57150" marT="9525" marB="9525">
                    <a:solidFill>
                      <a:srgbClr val="32B5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89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TaskCategory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6834D"/>
                          </a:solidFill>
                        </a:rPr>
                        <a:t>C4C internal/external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89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RepairItem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6834D"/>
                          </a:solidFill>
                        </a:rPr>
                        <a:t>C4C not into use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89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ProblemDescription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6834D"/>
                          </a:solidFill>
                        </a:rPr>
                        <a:t>C4C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32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AssignedTechnicianID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missing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FK</a:t>
                      </a:r>
                    </a:p>
                  </a:txBody>
                  <a:tcPr marL="57150" marR="57150" marT="9525" marB="9525">
                    <a:solidFill>
                      <a:srgbClr val="32B5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89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SoldHours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6834D"/>
                          </a:solidFill>
                        </a:rPr>
                        <a:t>C4C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89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ActualHours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missing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89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WaitingReason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89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ReworkFlag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same chassis + fix desc.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7" name="merged-fields">
            <a:extLst>
              <a:ext uri="{FF2B5EF4-FFF2-40B4-BE49-F238E27FC236}">
                <a16:creationId xmlns:a16="http://schemas.microsoft.com/office/drawing/2014/main" id="{4907A06A-F76C-46E7-862B-C3DA497F3DC5}"/>
              </a:ext>
            </a:extLst>
          </p:cNvPr>
          <p:cNvSpPr>
            <a:spLocks noGrp="1"/>
          </p:cNvSpPr>
          <p:nvPr/>
        </p:nvSpPr>
        <p:spPr>
          <a:xfrm>
            <a:off x="762000" y="10096500"/>
            <a:ext cx="5524500" cy="3143250"/>
          </a:xfrm>
          <a:prstGeom prst="roundRect">
            <a:avLst>
              <a:gd name="adj" fmla="val 3030"/>
            </a:avLst>
          </a:prstGeom>
          <a:solidFill>
            <a:srgbClr val="EEF6FF"/>
          </a:solidFill>
          <a:ln w="14288">
            <a:solidFill>
              <a:srgbClr val="BFD7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8" name="merged-title">
            <a:extLst>
              <a:ext uri="{FF2B5EF4-FFF2-40B4-BE49-F238E27FC236}">
                <a16:creationId xmlns:a16="http://schemas.microsoft.com/office/drawing/2014/main" id="{22CE30B8-503B-4899-9A26-923FF183738C}"/>
              </a:ext>
            </a:extLst>
          </p:cNvPr>
          <p:cNvSpPr>
            <a:spLocks noGrp="1"/>
          </p:cNvSpPr>
          <p:nvPr/>
        </p:nvSpPr>
        <p:spPr>
          <a:xfrm>
            <a:off x="1066800" y="103441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7557E"/>
                </a:solidFill>
              </a:defRPr>
            </a:pPr>
            <a:r>
              <a:rPr sz="1800" b="1">
                <a:solidFill>
                  <a:srgbClr val="27557E"/>
                </a:solidFill>
              </a:rPr>
              <a:t>Merged Fields</a:t>
            </a:r>
          </a:p>
        </p:txBody>
      </p:sp>
      <p:sp>
        <p:nvSpPr>
          <p:cNvPr id="59" name="merged-body">
            <a:extLst>
              <a:ext uri="{FF2B5EF4-FFF2-40B4-BE49-F238E27FC236}">
                <a16:creationId xmlns:a16="http://schemas.microsoft.com/office/drawing/2014/main" id="{60C8C8C2-E015-4A8B-B73A-DC4A166E798C}"/>
              </a:ext>
            </a:extLst>
          </p:cNvPr>
          <p:cNvSpPr>
            <a:spLocks noGrp="1"/>
          </p:cNvSpPr>
          <p:nvPr/>
        </p:nvSpPr>
        <p:spPr>
          <a:xfrm>
            <a:off x="1066800" y="1082040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7557E"/>
                </a:solidFill>
              </a:defRPr>
            </a:pPr>
            <a:r>
              <a:rPr sz="1275" b="0">
                <a:solidFill>
                  <a:srgbClr val="27557E"/>
                </a:solidFill>
              </a:rPr>
              <a:t>Quote outcome is summarized on Service Order as Total QuoteAmount.</a:t>
            </a:r>
          </a:p>
          <a:p>
            <a:pPr algn="l">
              <a:defRPr sz="1275" b="0">
                <a:solidFill>
                  <a:srgbClr val="27557E"/>
                </a:solidFill>
              </a:defRPr>
            </a:pPr>
            <a:r>
              <a:rPr sz="1275" b="0">
                <a:solidFill>
                  <a:srgbClr val="27557E"/>
                </a:solidFill>
              </a:rPr>
              <a:t>Quote detail is stored in 2A. FACT_QUOTE with 1:N from Service Order.</a:t>
            </a:r>
          </a:p>
          <a:p>
            <a:pPr algn="l">
              <a:defRPr sz="1275" b="0">
                <a:solidFill>
                  <a:srgbClr val="27557E"/>
                </a:solidFill>
              </a:defRPr>
            </a:pPr>
            <a:r>
              <a:rPr sz="1275" b="0">
                <a:solidFill>
                  <a:srgbClr val="27557E"/>
                </a:solidFill>
              </a:rPr>
              <a:t>Technician links directly to FACT_SERVICE_TASK through AssignedTechnicianID.</a:t>
            </a:r>
          </a:p>
          <a:p>
            <a:pPr algn="l">
              <a:defRPr sz="1275" b="0">
                <a:solidFill>
                  <a:srgbClr val="27557E"/>
                </a:solidFill>
              </a:defRPr>
            </a:pPr>
            <a:r>
              <a:rPr sz="1275" b="0">
                <a:solidFill>
                  <a:srgbClr val="27557E"/>
                </a:solidFill>
              </a:rPr>
              <a:t>Financial KPI inputs stay in FACT_RO_FINANCE.</a:t>
            </a:r>
          </a:p>
        </p:txBody>
      </p:sp>
      <p:cxnSp>
        <p:nvCxnSpPr>
          <p:cNvPr id="137" name="Connector: Elbow 136"/>
          <p:cNvCxnSpPr>
            <a:cxnSpLocks/>
          </p:cNvCxnSpPr>
          <p:nvPr/>
        </p:nvCxnSpPr>
        <p:spPr>
          <a:xfrm rot="10800000" flipV="1">
            <a:off x="6267448" y="4048124"/>
            <a:ext cx="990602" cy="107"/>
          </a:xfrm>
          <a:prstGeom prst="bentConnector3">
            <a:avLst>
              <a:gd name="adj1" fmla="val 50000"/>
            </a:avLst>
          </a:prstGeom>
          <a:ln w="28575">
            <a:solidFill>
              <a:srgbClr val="DD2229"/>
            </a:solidFill>
            <a:prstDash val="solid"/>
            <a:headEnd type="triangle" w="sm" len="sm"/>
          </a:ln>
        </p:spPr>
      </p:cxnSp>
      <p:sp>
        <p:nvSpPr>
          <p:cNvPr id="61" name="1-number">
            <a:extLst>
              <a:ext uri="{FF2B5EF4-FFF2-40B4-BE49-F238E27FC236}">
                <a16:creationId xmlns:a16="http://schemas.microsoft.com/office/drawing/2014/main" id="{06F60801-CF61-4C9F-8160-E67BC484E99E}"/>
              </a:ext>
            </a:extLst>
          </p:cNvPr>
          <p:cNvSpPr>
            <a:spLocks noGrp="1"/>
          </p:cNvSpPr>
          <p:nvPr/>
        </p:nvSpPr>
        <p:spPr>
          <a:xfrm>
            <a:off x="6419850" y="3429000"/>
            <a:ext cx="323850" cy="266700"/>
          </a:xfrm>
          <a:prstGeom prst="ellipse">
            <a:avLst/>
          </a:prstGeom>
          <a:solidFill>
            <a:srgbClr val="DD2229"/>
          </a:solidFill>
          <a:ln w="9525">
            <a:solidFill>
              <a:srgbClr val="DD2229"/>
            </a:solidFill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2" name="1-cardinality">
            <a:extLst>
              <a:ext uri="{FF2B5EF4-FFF2-40B4-BE49-F238E27FC236}">
                <a16:creationId xmlns:a16="http://schemas.microsoft.com/office/drawing/2014/main" id="{2656950C-8155-4A46-8AE7-F576DCA1FF3F}"/>
              </a:ext>
            </a:extLst>
          </p:cNvPr>
          <p:cNvSpPr>
            <a:spLocks noGrp="1"/>
          </p:cNvSpPr>
          <p:nvPr/>
        </p:nvSpPr>
        <p:spPr>
          <a:xfrm>
            <a:off x="6819900" y="343852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DD2229"/>
                </a:solidFill>
              </a:defRPr>
            </a:pPr>
            <a:r>
              <a:rPr sz="1275" b="1">
                <a:solidFill>
                  <a:srgbClr val="DD2229"/>
                </a:solidFill>
              </a:rPr>
              <a:t>1:N</a:t>
            </a:r>
          </a:p>
        </p:txBody>
      </p:sp>
      <p:cxnSp>
        <p:nvCxnSpPr>
          <p:cNvPr id="140" name="Straight Arrow Connector 139"/>
          <p:cNvCxnSpPr>
            <a:stCxn id="17" idx="3"/>
            <a:endCxn id="24" idx="1"/>
          </p:cNvCxnSpPr>
          <p:nvPr/>
        </p:nvCxnSpPr>
        <p:spPr>
          <a:xfrm>
            <a:off x="12763500" y="4048125"/>
            <a:ext cx="952500" cy="0"/>
          </a:xfrm>
          <a:prstGeom prst="straightConnector1">
            <a:avLst/>
          </a:prstGeom>
          <a:ln w="28575">
            <a:solidFill>
              <a:srgbClr val="DD2229"/>
            </a:solidFill>
            <a:prstDash val="solid"/>
            <a:headEnd type="triangle" w="sm" len="sm"/>
          </a:ln>
        </p:spPr>
      </p:cxnSp>
      <p:sp>
        <p:nvSpPr>
          <p:cNvPr id="64" name="6-number">
            <a:extLst>
              <a:ext uri="{FF2B5EF4-FFF2-40B4-BE49-F238E27FC236}">
                <a16:creationId xmlns:a16="http://schemas.microsoft.com/office/drawing/2014/main" id="{B1ED6622-FB42-4D11-9533-45695DBB7F0F}"/>
              </a:ext>
            </a:extLst>
          </p:cNvPr>
          <p:cNvSpPr>
            <a:spLocks noGrp="1"/>
          </p:cNvSpPr>
          <p:nvPr/>
        </p:nvSpPr>
        <p:spPr>
          <a:xfrm>
            <a:off x="12877800" y="3429000"/>
            <a:ext cx="323850" cy="266700"/>
          </a:xfrm>
          <a:prstGeom prst="ellipse">
            <a:avLst/>
          </a:prstGeom>
          <a:solidFill>
            <a:srgbClr val="DD2229"/>
          </a:solidFill>
          <a:ln w="9525">
            <a:solidFill>
              <a:srgbClr val="DD2229"/>
            </a:solidFill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5" name="6-cardinality">
            <a:extLst>
              <a:ext uri="{FF2B5EF4-FFF2-40B4-BE49-F238E27FC236}">
                <a16:creationId xmlns:a16="http://schemas.microsoft.com/office/drawing/2014/main" id="{3E799967-9BA2-4602-BD4D-5FEB7973373B}"/>
              </a:ext>
            </a:extLst>
          </p:cNvPr>
          <p:cNvSpPr>
            <a:spLocks noGrp="1"/>
          </p:cNvSpPr>
          <p:nvPr/>
        </p:nvSpPr>
        <p:spPr>
          <a:xfrm>
            <a:off x="13277850" y="343852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DD2229"/>
                </a:solidFill>
              </a:defRPr>
            </a:pPr>
            <a:r>
              <a:rPr sz="1275" b="1">
                <a:solidFill>
                  <a:srgbClr val="DD2229"/>
                </a:solidFill>
              </a:rPr>
              <a:t>1:N</a:t>
            </a:r>
          </a:p>
        </p:txBody>
      </p:sp>
      <p:cxnSp>
        <p:nvCxnSpPr>
          <p:cNvPr id="143" name="Straight Arrow Connector 142"/>
          <p:cNvCxnSpPr>
            <a:cxnSpLocks/>
          </p:cNvCxnSpPr>
          <p:nvPr/>
        </p:nvCxnSpPr>
        <p:spPr>
          <a:xfrm flipV="1">
            <a:off x="9688530" y="6092920"/>
            <a:ext cx="0" cy="574580"/>
          </a:xfrm>
          <a:prstGeom prst="straightConnector1">
            <a:avLst/>
          </a:prstGeom>
          <a:ln w="28575">
            <a:solidFill>
              <a:srgbClr val="DD2229"/>
            </a:solidFill>
            <a:prstDash val="solid"/>
            <a:headEnd type="triangle" w="sm" len="sm"/>
          </a:ln>
        </p:spPr>
      </p:cxnSp>
      <p:sp>
        <p:nvSpPr>
          <p:cNvPr id="67" name="2A-number">
            <a:extLst>
              <a:ext uri="{FF2B5EF4-FFF2-40B4-BE49-F238E27FC236}">
                <a16:creationId xmlns:a16="http://schemas.microsoft.com/office/drawing/2014/main" id="{1B06FB74-6B07-4AD9-B736-8F229ADB54F4}"/>
              </a:ext>
            </a:extLst>
          </p:cNvPr>
          <p:cNvSpPr>
            <a:spLocks noGrp="1"/>
          </p:cNvSpPr>
          <p:nvPr/>
        </p:nvSpPr>
        <p:spPr>
          <a:xfrm>
            <a:off x="12858750" y="6191250"/>
            <a:ext cx="323850" cy="266700"/>
          </a:xfrm>
          <a:prstGeom prst="ellipse">
            <a:avLst/>
          </a:prstGeom>
          <a:solidFill>
            <a:srgbClr val="DD2229"/>
          </a:solidFill>
          <a:ln w="9525">
            <a:solidFill>
              <a:srgbClr val="DD2229"/>
            </a:solidFill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2A</a:t>
            </a:r>
          </a:p>
        </p:txBody>
      </p:sp>
      <p:sp>
        <p:nvSpPr>
          <p:cNvPr id="68" name="2A-cardinality">
            <a:extLst>
              <a:ext uri="{FF2B5EF4-FFF2-40B4-BE49-F238E27FC236}">
                <a16:creationId xmlns:a16="http://schemas.microsoft.com/office/drawing/2014/main" id="{158B2D05-3D16-4A82-AD4A-8B305B4C12DA}"/>
              </a:ext>
            </a:extLst>
          </p:cNvPr>
          <p:cNvSpPr>
            <a:spLocks noGrp="1"/>
          </p:cNvSpPr>
          <p:nvPr/>
        </p:nvSpPr>
        <p:spPr>
          <a:xfrm>
            <a:off x="13258800" y="62007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DD2229"/>
                </a:solidFill>
              </a:defRPr>
            </a:pPr>
            <a:r>
              <a:rPr sz="1275" b="1">
                <a:solidFill>
                  <a:srgbClr val="DD2229"/>
                </a:solidFill>
              </a:rPr>
              <a:t>1:N</a:t>
            </a:r>
          </a:p>
        </p:txBody>
      </p:sp>
      <p:cxnSp>
        <p:nvCxnSpPr>
          <p:cNvPr id="146" name="Straight Arrow Connector 145"/>
          <p:cNvCxnSpPr>
            <a:cxnSpLocks/>
          </p:cNvCxnSpPr>
          <p:nvPr/>
        </p:nvCxnSpPr>
        <p:spPr>
          <a:xfrm flipV="1">
            <a:off x="10520737" y="10942316"/>
            <a:ext cx="0" cy="401959"/>
          </a:xfrm>
          <a:prstGeom prst="straightConnector1">
            <a:avLst/>
          </a:prstGeom>
          <a:ln w="28575">
            <a:solidFill>
              <a:srgbClr val="DD2229"/>
            </a:solidFill>
            <a:prstDash val="solid"/>
            <a:headEnd type="triangle" w="sm" len="sm"/>
          </a:ln>
        </p:spPr>
      </p:cxnSp>
      <p:sp>
        <p:nvSpPr>
          <p:cNvPr id="70" name="3-number">
            <a:extLst>
              <a:ext uri="{FF2B5EF4-FFF2-40B4-BE49-F238E27FC236}">
                <a16:creationId xmlns:a16="http://schemas.microsoft.com/office/drawing/2014/main" id="{B22BB5FA-68DE-4BF1-9DC4-79C53BBBDBC6}"/>
              </a:ext>
            </a:extLst>
          </p:cNvPr>
          <p:cNvSpPr>
            <a:spLocks noGrp="1"/>
          </p:cNvSpPr>
          <p:nvPr/>
        </p:nvSpPr>
        <p:spPr>
          <a:xfrm>
            <a:off x="14458950" y="12494142"/>
            <a:ext cx="323850" cy="266700"/>
          </a:xfrm>
          <a:prstGeom prst="ellipse">
            <a:avLst/>
          </a:prstGeom>
          <a:solidFill>
            <a:srgbClr val="DD2229"/>
          </a:solidFill>
          <a:ln w="9525">
            <a:solidFill>
              <a:srgbClr val="DD2229"/>
            </a:solidFill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1" name="3-cardinality">
            <a:extLst>
              <a:ext uri="{FF2B5EF4-FFF2-40B4-BE49-F238E27FC236}">
                <a16:creationId xmlns:a16="http://schemas.microsoft.com/office/drawing/2014/main" id="{60C00AC9-3437-462E-BCA9-C426E612C378}"/>
              </a:ext>
            </a:extLst>
          </p:cNvPr>
          <p:cNvSpPr>
            <a:spLocks noGrp="1"/>
          </p:cNvSpPr>
          <p:nvPr/>
        </p:nvSpPr>
        <p:spPr>
          <a:xfrm>
            <a:off x="14782800" y="12457371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DD2229"/>
                </a:solidFill>
              </a:defRPr>
            </a:pPr>
            <a:r>
              <a:rPr sz="1275" b="1" dirty="0">
                <a:solidFill>
                  <a:srgbClr val="DD2229"/>
                </a:solidFill>
              </a:rPr>
              <a:t>1:N</a:t>
            </a:r>
          </a:p>
        </p:txBody>
      </p:sp>
      <p:cxnSp>
        <p:nvCxnSpPr>
          <p:cNvPr id="149" name="Connector: Elbow 148"/>
          <p:cNvCxnSpPr>
            <a:stCxn id="31" idx="3"/>
            <a:endCxn id="52" idx="1"/>
          </p:cNvCxnSpPr>
          <p:nvPr/>
        </p:nvCxnSpPr>
        <p:spPr>
          <a:xfrm>
            <a:off x="6286500" y="7477125"/>
            <a:ext cx="952500" cy="5476875"/>
          </a:xfrm>
          <a:prstGeom prst="bentConnector3">
            <a:avLst>
              <a:gd name="adj1" fmla="val 50000"/>
            </a:avLst>
          </a:prstGeom>
          <a:ln w="28575">
            <a:solidFill>
              <a:srgbClr val="1976C9"/>
            </a:solidFill>
            <a:prstDash val="solid"/>
            <a:headEnd type="triangle" w="sm" len="sm"/>
          </a:ln>
        </p:spPr>
      </p:cxnSp>
      <p:sp>
        <p:nvSpPr>
          <p:cNvPr id="73" name="T-number">
            <a:extLst>
              <a:ext uri="{FF2B5EF4-FFF2-40B4-BE49-F238E27FC236}">
                <a16:creationId xmlns:a16="http://schemas.microsoft.com/office/drawing/2014/main" id="{18517A44-7C2B-4744-8255-55C65A96F462}"/>
              </a:ext>
            </a:extLst>
          </p:cNvPr>
          <p:cNvSpPr>
            <a:spLocks noGrp="1"/>
          </p:cNvSpPr>
          <p:nvPr/>
        </p:nvSpPr>
        <p:spPr>
          <a:xfrm>
            <a:off x="6419850" y="9620250"/>
            <a:ext cx="323850" cy="266700"/>
          </a:xfrm>
          <a:prstGeom prst="ellipse">
            <a:avLst/>
          </a:prstGeom>
          <a:solidFill>
            <a:srgbClr val="1976C9"/>
          </a:solidFill>
          <a:ln w="9525">
            <a:solidFill>
              <a:srgbClr val="1976C9"/>
            </a:solidFill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74" name="T-cardinality">
            <a:extLst>
              <a:ext uri="{FF2B5EF4-FFF2-40B4-BE49-F238E27FC236}">
                <a16:creationId xmlns:a16="http://schemas.microsoft.com/office/drawing/2014/main" id="{3709FA8F-B9BB-48C0-9162-C5C476A10433}"/>
              </a:ext>
            </a:extLst>
          </p:cNvPr>
          <p:cNvSpPr>
            <a:spLocks noGrp="1"/>
          </p:cNvSpPr>
          <p:nvPr/>
        </p:nvSpPr>
        <p:spPr>
          <a:xfrm>
            <a:off x="6819900" y="96297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976C9"/>
                </a:solidFill>
              </a:defRPr>
            </a:pPr>
            <a:r>
              <a:rPr sz="1275" b="1">
                <a:solidFill>
                  <a:srgbClr val="1976C9"/>
                </a:solidFill>
              </a:rPr>
              <a:t>1:N</a:t>
            </a:r>
          </a:p>
        </p:txBody>
      </p:sp>
      <p:cxnSp>
        <p:nvCxnSpPr>
          <p:cNvPr id="152" name="Connector: Elbow 151"/>
          <p:cNvCxnSpPr>
            <a:stCxn id="52" idx="3"/>
            <a:endCxn id="45" idx="2"/>
          </p:cNvCxnSpPr>
          <p:nvPr/>
        </p:nvCxnSpPr>
        <p:spPr>
          <a:xfrm flipV="1">
            <a:off x="12763500" y="9429750"/>
            <a:ext cx="3714750" cy="3524250"/>
          </a:xfrm>
          <a:prstGeom prst="bentConnector2">
            <a:avLst/>
          </a:prstGeom>
          <a:ln w="28575">
            <a:solidFill>
              <a:srgbClr val="DD2229"/>
            </a:solidFill>
            <a:prstDash val="solid"/>
            <a:headEnd type="triangle" w="sm" len="sm"/>
          </a:ln>
        </p:spPr>
      </p:cxnSp>
      <p:sp>
        <p:nvSpPr>
          <p:cNvPr id="76" name="4-number">
            <a:extLst>
              <a:ext uri="{FF2B5EF4-FFF2-40B4-BE49-F238E27FC236}">
                <a16:creationId xmlns:a16="http://schemas.microsoft.com/office/drawing/2014/main" id="{60AFF53E-ACFD-4DBF-B2F7-F4FE5BE531E7}"/>
              </a:ext>
            </a:extLst>
          </p:cNvPr>
          <p:cNvSpPr>
            <a:spLocks noGrp="1"/>
          </p:cNvSpPr>
          <p:nvPr/>
        </p:nvSpPr>
        <p:spPr>
          <a:xfrm>
            <a:off x="11144250" y="10972800"/>
            <a:ext cx="323850" cy="266700"/>
          </a:xfrm>
          <a:prstGeom prst="ellipse">
            <a:avLst/>
          </a:prstGeom>
          <a:solidFill>
            <a:srgbClr val="DD2229"/>
          </a:solidFill>
          <a:ln w="9525">
            <a:solidFill>
              <a:srgbClr val="DD2229"/>
            </a:solidFill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7" name="4-cardinality">
            <a:extLst>
              <a:ext uri="{FF2B5EF4-FFF2-40B4-BE49-F238E27FC236}">
                <a16:creationId xmlns:a16="http://schemas.microsoft.com/office/drawing/2014/main" id="{4D31EE21-EDC9-4B97-A2A8-5060B8682265}"/>
              </a:ext>
            </a:extLst>
          </p:cNvPr>
          <p:cNvSpPr>
            <a:spLocks noGrp="1"/>
          </p:cNvSpPr>
          <p:nvPr/>
        </p:nvSpPr>
        <p:spPr>
          <a:xfrm>
            <a:off x="11544300" y="109632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DD2229"/>
                </a:solidFill>
              </a:defRPr>
            </a:pPr>
            <a:r>
              <a:rPr sz="1275" b="1" dirty="0">
                <a:solidFill>
                  <a:srgbClr val="DD2229"/>
                </a:solidFill>
              </a:rPr>
              <a:t>1:N</a:t>
            </a:r>
          </a:p>
        </p:txBody>
      </p:sp>
    </p:spTree>
    <p:extLst>
      <p:ext uri="{BB962C8B-B14F-4D97-AF65-F5344CB8AC3E}">
        <p14:creationId xmlns:p14="http://schemas.microsoft.com/office/powerpoint/2010/main" val="6875466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454</Words>
  <Application>Microsoft Office PowerPoint</Application>
  <DocSecurity>0</DocSecurity>
  <PresentationFormat>Custom</PresentationFormat>
  <Paragraphs>190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Leo Li</cp:lastModifiedBy>
  <cp:revision>2</cp:revision>
  <dcterms:created xsi:type="dcterms:W3CDTF">2026-08-31T01:57:49Z</dcterms:created>
  <dcterms:modified xsi:type="dcterms:W3CDTF">2026-08-31T02:05:33Z</dcterms:modified>
</cp:coreProperties>
</file>