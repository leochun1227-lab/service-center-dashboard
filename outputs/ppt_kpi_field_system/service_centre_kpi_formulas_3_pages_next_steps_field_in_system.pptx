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8f0a28074143ab" /><Relationship Type="http://schemas.openxmlformats.org/officeDocument/2006/relationships/extended-properties" Target="/docProps/app.xml" Id="R45679402b8774f23" /><Relationship Type="http://schemas.openxmlformats.org/officeDocument/2006/relationships/officeDocument" Target="/ppt/presentation.xml" Id="Rf82a331da12b4f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6ffa04f2d14c9d"/>
  </p:sldMasterIdLst>
  <p:notesMasterIdLst>
    <p:notesMasterId xmlns:r="http://schemas.openxmlformats.org/officeDocument/2006/relationships" r:id="Rb3151feb7a9f4db8"/>
  </p:notesMasterIdLst>
  <p:sldIdLst>
    <p:sldId xmlns:r="http://schemas.openxmlformats.org/officeDocument/2006/relationships" id="256" r:id="R4e8ca024cf444bfa"/>
    <p:sldId xmlns:r="http://schemas.openxmlformats.org/officeDocument/2006/relationships" id="257" r:id="Re20c3a2d5302403b"/>
    <p:sldId xmlns:r="http://schemas.openxmlformats.org/officeDocument/2006/relationships" id="258" r:id="R274590b4970042d7"/>
    <p:sldId xmlns:r="http://schemas.openxmlformats.org/officeDocument/2006/relationships" id="259" r:id="Rfbb203aefe5f4e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8f1fa065124249" /><Relationship Type="http://schemas.openxmlformats.org/officeDocument/2006/relationships/slideMaster" Target="/ppt/slideMasters/slideMaster1.xml" Id="R366ffa04f2d14c9d" /><Relationship Type="http://schemas.openxmlformats.org/officeDocument/2006/relationships/notesMaster" Target="/ppt/notesMasters/notesMaster1.xml" Id="Rb3151feb7a9f4db8" /><Relationship Type="http://schemas.openxmlformats.org/officeDocument/2006/relationships/presProps" Target="/ppt/presProps.xml" Id="Rf2acf65ef6db47bf" /><Relationship Type="http://schemas.openxmlformats.org/officeDocument/2006/relationships/viewProps" Target="/ppt/viewProps.xml" Id="R7efbcc3b4ff74249" /><Relationship Type="http://schemas.openxmlformats.org/officeDocument/2006/relationships/tableStyles" Target="/ppt/tableStyles.xml" Id="Re0728436cb284b7b" /><Relationship Type="http://schemas.openxmlformats.org/officeDocument/2006/relationships/slide" Target="/ppt/slides/slide1.xml" Id="R4e8ca024cf444bfa" /><Relationship Type="http://schemas.openxmlformats.org/officeDocument/2006/relationships/slide" Target="/ppt/slides/slide2.xml" Id="Re20c3a2d5302403b" /><Relationship Type="http://schemas.openxmlformats.org/officeDocument/2006/relationships/slide" Target="/ppt/slides/slide3.xml" Id="R274590b4970042d7" /><Relationship Type="http://schemas.openxmlformats.org/officeDocument/2006/relationships/slide" Target="/ppt/slides/slide4.xml" Id="Rfbb203aefe5f4e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f28935169c44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b5a5dc2c3a4a26" /><Relationship Type="http://schemas.openxmlformats.org/officeDocument/2006/relationships/notesMaster" Target="/ppt/notesMasters/notesMaster1.xml" Id="Rb254c053ab9848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dc5b570ae84a02" /><Relationship Type="http://schemas.openxmlformats.org/officeDocument/2006/relationships/notesMaster" Target="/ppt/notesMasters/notesMaster1.xml" Id="Rcd0a269a361742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321fde38874c4a" /><Relationship Type="http://schemas.openxmlformats.org/officeDocument/2006/relationships/notesMaster" Target="/ppt/notesMasters/notesMaster1.xml" Id="Rd27a78908a664f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1338aad3b94f1b" /><Relationship Type="http://schemas.openxmlformats.org/officeDocument/2006/relationships/notesMaster" Target="/ppt/notesMasters/notesMaster1.xml" Id="R3dead9407c0644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a7e24b3e924fc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a337c4c3c440b8" /><Relationship Type="http://schemas.openxmlformats.org/officeDocument/2006/relationships/slideLayout" Target="/ppt/slideLayouts/slideLayout1.xml" Id="R27853735d777499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853735d777499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814f2f8fc4fd5" /><Relationship Type="http://schemas.openxmlformats.org/officeDocument/2006/relationships/notesSlide" Target="/ppt/notesSlides/notesSlide1.xml" Id="R98c5df7af84b46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35825112d4448" /><Relationship Type="http://schemas.openxmlformats.org/officeDocument/2006/relationships/notesSlide" Target="/ppt/notesSlides/notesSlide2.xml" Id="Ra8540442763444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5c1e6d16d472c" /><Relationship Type="http://schemas.openxmlformats.org/officeDocument/2006/relationships/notesSlide" Target="/ppt/notesSlides/notesSlide3.xml" Id="R3f6d3af0bf044d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ba2120fcd44a9" /><Relationship Type="http://schemas.openxmlformats.org/officeDocument/2006/relationships/notesSlide" Target="/ppt/notesSlides/notesSlide4.xml" Id="Ra0cf6536191c46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Table 4"/>
          <p:cNvGraphicFramePr/>
          <p:nvPr/>
        </p:nvGraphicFramePr>
        <p:xfrm>
          <a:off xmlns:a="http://schemas.openxmlformats.org/drawingml/2006/main" x="791851" y="514410"/>
          <a:ext xmlns:a="http://schemas.openxmlformats.org/drawingml/2006/main" cx="9792758" cy="60754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96379"/>
                <a:gridCol w="4896379"/>
              </a:tblGrid>
              <a:tr h="24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KPI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What It Measures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Average Repair Order Amount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How much revenue is generated on average from each repair order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Effective Labour Rate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How much of the posted labour rate is actually achieved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Gross Profit Margin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Overall profitability of Service and Parts combined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Service Gross %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Profitability of labour/service sales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Parts Gross %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Profitability of parts sales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Absorption Rate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Whether Service and Parts gross profit can cover operating expenses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Technician Productivity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How many billable/sold hours are generated from each available working hour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Technician Efficiency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How efficiently technicians complete work compared with standard/sold hours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Technician Utilisation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How much of a technician’s available working time is actually spent on productive work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Comeback Rate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How often vehicles return for the same issue after a repair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Quotation Approval Rate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How often customers approve submitted repair quotations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Customer Retention Rate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How successfully the service centre retains existing customers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Retail Repair Order (RO) Growth Rate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Whether the volume of customer-paid repair orders is growing year over year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Service Appointment Lead Time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How long customers need to wait from booking request to service appointment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2733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053A5D-878E-4DDD-9AB8-269C4708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A85"/>
          </a:solidFill>
          <a:ln xmlns:a="http://schemas.openxmlformats.org/drawingml/2006/main" w="12700">
            <a:solidFill>
              <a:srgbClr val="088A8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CEC040-593F-47AA-86ED-96160990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3465"/>
            <a:ext cx="3474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88A85"/>
                </a:solidFill>
                <a:latin typeface="Aptos"/>
                <a:ea typeface="Aptos"/>
                <a:cs typeface="Aptos"/>
              </a:rPr>
              <a:t>FINANCIAL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A1D4492-0510-4366-A98B-3C45368D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85216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Service Centre KPI Formulas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3FF9A3-66F7-476C-B488-D25A5FB7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3371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B257A5A-FE38-4543-9437-270BAFF0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65376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0D5DD">
                <a:alpha val="7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2312A24-78EC-4067-9DB0-A3185072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0"/>
            <a:ext cx="54864" cy="448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A85"/>
          </a:solidFill>
          <a:ln xmlns:a="http://schemas.openxmlformats.org/drawingml/2006/main" w="12700">
            <a:solidFill>
              <a:srgbClr val="088A8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3EB381F-1D0F-4E89-A25A-3DCACD4A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98448"/>
            <a:ext cx="1762125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172033"/>
                </a:solidFill>
              </a:defRPr>
            </a:pPr>
            <a:r>
              <a:rPr sz="10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Average Order Amount</a:t>
            </a:r>
            <a:endParaRPr sz="1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30BB4-8CC5-4A6B-B09D-91184E32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298448"/>
            <a:ext cx="438150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03" b="0">
                <a:solidFill>
                  <a:srgbClr val="172033"/>
                </a:solidFill>
              </a:defRPr>
            </a:pPr>
            <a:r>
              <a:rPr sz="10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Total Order Revenue(SAP Invoice</a:t>
            </a:r>
            <a:r>
              <a:rPr sz="10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, </a:t>
            </a:r>
            <a:r>
              <a:rPr sz="10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internal found in C4C) ÷ Number of Repair Orders(C4C)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69B174A-A578-4F4B-AD04-6B622CC7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32888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0D5DD">
                <a:alpha val="7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57CBD13-2225-4AF4-B7C2-FC739564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39112"/>
            <a:ext cx="54864" cy="448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A85"/>
          </a:solidFill>
          <a:ln xmlns:a="http://schemas.openxmlformats.org/drawingml/2006/main" w="12700">
            <a:solidFill>
              <a:srgbClr val="088A8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277EFB7-05EF-40FD-80F9-0E805AFF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1762125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172033"/>
                </a:solidFill>
              </a:defRPr>
            </a:pPr>
            <a:r>
              <a:rPr sz="10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Effective Labor Rate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790CD65-75F8-45A8-BBEC-07521DF6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65960"/>
            <a:ext cx="3857625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03" b="0">
                <a:solidFill>
                  <a:srgbClr val="172033"/>
                </a:solidFill>
              </a:defRPr>
            </a:pPr>
            <a:r>
              <a:rPr sz="1000" b="0" i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Target: &gt;90% of posted rate </a:t>
            </a:r>
            <a:r>
              <a:rPr sz="10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 Total Labor Revenue(missing) ÷ Labor Hours Sold( C4C) </a:t>
            </a:r>
          </a:p>
          <a:p xmlns:a="http://schemas.openxmlformats.org/drawingml/2006/main">
            <a:pPr algn="l">
              <a:buNone/>
              <a:defRPr sz="803" b="0">
                <a:solidFill>
                  <a:srgbClr val="172033"/>
                </a:solidFill>
              </a:defRPr>
            </a:pPr>
            <a:r>
              <a:rPr sz="10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 called function yet, next step: system need add new function for it</a:t>
            </a:r>
            <a:r>
              <a:rPr sz="1000" b="0" i="1">
                <a:solidFill>
                  <a:srgbClr val="172033"/>
                </a:solidFill>
                <a:latin typeface="Aptos"/>
                <a:ea typeface="Aptos"/>
                <a:cs typeface="Aptos"/>
              </a:rPr>
              <a:t> 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9DB4A08-ADFA-4169-B9CC-3A344DCF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9368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0D5DD">
                <a:alpha val="7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252322D-0194-4CE9-98A4-2F76C6F8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08571"/>
            <a:ext cx="54864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A85"/>
          </a:solidFill>
          <a:ln xmlns:a="http://schemas.openxmlformats.org/drawingml/2006/main" w="12700">
            <a:solidFill>
              <a:srgbClr val="088A8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9FC7F06-5ED1-4F04-A297-0E88DB85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65965"/>
            <a:ext cx="176212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172033"/>
                </a:solidFill>
              </a:defRPr>
            </a:pPr>
            <a:r>
              <a:rPr sz="10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Gross Profit Margin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9FF0D03-D50B-43FA-8CDD-9F898BEF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14600"/>
            <a:ext cx="3857625" cy="126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03" b="0">
                <a:solidFill>
                  <a:srgbClr val="172033"/>
                </a:solidFill>
              </a:defRPr>
            </a:pPr>
            <a:r>
              <a:rPr sz="10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(Parts Revenue( )+ Labor Revenue() − Parts Cost ()− Labor Cost(HR PAYSLIP) ÷ (Parts Revenue + Labor Revenue) × 100%</a:t>
            </a:r>
            <a:r>
              <a:rPr sz="1000" b="0" i="1">
                <a:solidFill>
                  <a:srgbClr val="172033"/>
                </a:solidFill>
                <a:latin typeface="Aptos"/>
                <a:ea typeface="Aptos"/>
                <a:cs typeface="Aptos"/>
              </a:rPr>
              <a:t>   Target: 58% to 65%  so retail price</a:t>
            </a:r>
          </a:p>
          <a:p xmlns:a="http://schemas.openxmlformats.org/drawingml/2006/main">
            <a:endParaRPr sz="10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EA78894-251D-4654-9FCB-AB6A1779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81728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0D5DD">
                <a:alpha val="7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593B8B0-9B6C-486E-96D0-623742F3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87952"/>
            <a:ext cx="54864" cy="448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A85"/>
          </a:solidFill>
          <a:ln xmlns:a="http://schemas.openxmlformats.org/drawingml/2006/main" w="12700">
            <a:solidFill>
              <a:srgbClr val="088A8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A6356B2-1C83-4F4A-83AF-9423CB37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1762125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172033"/>
                </a:solidFill>
              </a:defRPr>
            </a:pPr>
            <a:r>
              <a:rPr sz="10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Service Gross %</a:t>
            </a:r>
            <a:endParaRPr sz="1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5893978-6C56-4D18-AC4C-08861F84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14800"/>
            <a:ext cx="3857625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03" b="0">
                <a:solidFill>
                  <a:srgbClr val="172033"/>
                </a:solidFill>
              </a:defRPr>
            </a:pPr>
            <a:r>
              <a:rPr sz="10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(Labor Sales (SAP Invoice, but missing labor People ID)− Direct Labor Cost ()) ÷ Labor Sales × 100%</a:t>
            </a:r>
            <a:r>
              <a:rPr sz="1000" b="0" i="1">
                <a:solidFill>
                  <a:srgbClr val="172033"/>
                </a:solidFill>
                <a:latin typeface="Aptos"/>
                <a:ea typeface="Aptos"/>
                <a:cs typeface="Aptos"/>
              </a:rPr>
              <a:t>   Target: 65% to 75%</a:t>
            </a:r>
            <a:endParaRPr sz="10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7848E85-26C6-48D9-9E07-BAF99F68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49240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0D5DD">
                <a:alpha val="7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A7D774F-C2CE-4806-A1B7-36190EC7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55464"/>
            <a:ext cx="54864" cy="448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A85"/>
          </a:solidFill>
          <a:ln xmlns:a="http://schemas.openxmlformats.org/drawingml/2006/main" w="12700">
            <a:solidFill>
              <a:srgbClr val="088A8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26C8699-B780-417C-A429-47995AF0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82312"/>
            <a:ext cx="1762125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172033"/>
                </a:solidFill>
              </a:defRPr>
            </a:pPr>
            <a:r>
              <a:rPr sz="10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Parts Gross %</a:t>
            </a:r>
            <a:endParaRPr sz="10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1183EBA-05A5-4B79-95EA-7F14DDD0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82312"/>
            <a:ext cx="3857625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03" b="0">
                <a:solidFill>
                  <a:srgbClr val="172033"/>
                </a:solidFill>
              </a:defRPr>
            </a:pPr>
            <a:r>
              <a:rPr sz="10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(Parts Sales(??SAP SO Invoice) − Parts Cost(??SAP PO Invoice)) ÷ Parts Sales × 100%</a:t>
            </a:r>
            <a:r>
              <a:rPr sz="1000" b="0" i="1">
                <a:solidFill>
                  <a:srgbClr val="172033"/>
                </a:solidFill>
                <a:latin typeface="Aptos"/>
                <a:ea typeface="Aptos"/>
                <a:cs typeface="Aptos"/>
              </a:rPr>
              <a:t>   Target: 35% to 45%</a:t>
            </a:r>
            <a:endParaRPr sz="10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612BBE7-11E8-4413-9591-321B143C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01675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0D5DD">
                <a:alpha val="7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BC7E8EF8-E356-4A18-AF4B-17D2C058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2976"/>
            <a:ext cx="54864" cy="448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A85"/>
          </a:solidFill>
          <a:ln xmlns:a="http://schemas.openxmlformats.org/drawingml/2006/main" w="12700">
            <a:solidFill>
              <a:srgbClr val="088A8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9A00EC6-7F67-4726-B575-57FA1254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9824"/>
            <a:ext cx="1762125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172033"/>
                </a:solidFill>
              </a:defRPr>
            </a:pPr>
            <a:r>
              <a:rPr sz="10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Absorption Rate*</a:t>
            </a:r>
            <a:endParaRPr sz="10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339DAB4A-3832-4B15-B295-114C6CB1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49824"/>
            <a:ext cx="3857625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03" b="0">
                <a:solidFill>
                  <a:srgbClr val="172033"/>
                </a:solidFill>
              </a:defRPr>
            </a:pPr>
            <a:r>
              <a:rPr sz="10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(Service Gross Profit + Parts Gross Profit) ÷ Operating Expenses( finance Sap, no assigned to cost centre for now) × 100%</a:t>
            </a:r>
            <a:r>
              <a:rPr sz="1000" b="0" i="1">
                <a:solidFill>
                  <a:srgbClr val="172033"/>
                </a:solidFill>
                <a:latin typeface="Aptos"/>
                <a:ea typeface="Aptos"/>
                <a:cs typeface="Aptos"/>
              </a:rPr>
              <a:t>  ***        Target: 100% to 130%</a:t>
            </a:r>
            <a:endParaRPr sz="10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889DDBC-272D-4232-9679-93AD1AE9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11064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67085"/>
                </a:solidFill>
                <a:latin typeface="Aptos"/>
                <a:ea typeface="Aptos"/>
                <a:cs typeface="Aptos"/>
              </a:rPr>
              <a:t>Formula definitions should be confirmed against SAP / DMS / Finance data fields before dashboard build.</a:t>
            </a:r>
            <a:endParaRPr sz="950"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1D94E1D9-7BD6-4175-83AF-057757B3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497" y="1051921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18233A"/>
                </a:solidFill>
              </a:defRPr>
            </a:pPr>
            <a:r>
              <a:rPr sz="1000" b="1">
                <a:solidFill>
                  <a:srgbClr val="18233A"/>
                </a:solidFill>
              </a:rPr>
              <a:t>KPI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1019A293-86B6-4744-8651-98FA6183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060323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18233A"/>
                </a:solidFill>
              </a:defRPr>
            </a:pPr>
            <a:r>
              <a:rPr sz="1000" b="1">
                <a:solidFill>
                  <a:srgbClr val="18233A"/>
                </a:solidFill>
              </a:rPr>
              <a:t>Formula / Source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8C8800E0-A7E2-4CF4-BB21-FD363C46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67848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1F2937"/>
                </a:solidFill>
              </a:defRPr>
            </a:pPr>
            <a:r>
              <a:rPr sz="690" b="1">
                <a:solidFill>
                  <a:srgbClr val="1F2937"/>
                </a:solidFill>
              </a:rPr>
              <a:t>Next Step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92D68393-E482-4166-9BA1-E9A996F1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067848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1F2937"/>
                </a:solidFill>
              </a:defRPr>
            </a:pPr>
            <a:r>
              <a:rPr sz="690" b="1">
                <a:solidFill>
                  <a:srgbClr val="1F2937"/>
                </a:solidFill>
              </a:rPr>
              <a:t>Priority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50C24C4E-FCB5-485B-ACFB-5CB7E0D2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7848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1F2937"/>
                </a:solidFill>
              </a:defRPr>
            </a:pPr>
            <a:r>
              <a:rPr sz="690" b="1">
                <a:solidFill>
                  <a:srgbClr val="1F2937"/>
                </a:solidFill>
              </a:rPr>
              <a:t>Alternative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D27B0CDE-F5ED-4CA5-A96C-510F22F7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067848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1F2937"/>
                </a:solidFill>
              </a:defRPr>
            </a:pPr>
            <a:r>
              <a:rPr sz="690" b="1">
                <a:solidFill>
                  <a:srgbClr val="1F2937"/>
                </a:solidFill>
              </a:rPr>
              <a:t>Due date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D31CD272-FD72-4B64-8F66-3A218869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67848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30" b="1">
                <a:solidFill>
                  <a:srgbClr val="1F2937"/>
                </a:solidFill>
              </a:defRPr>
            </a:pPr>
            <a:r>
              <a:rPr sz="630" b="1">
                <a:solidFill>
                  <a:srgbClr val="1F2937"/>
                </a:solidFill>
              </a:rPr>
              <a:t>Responsible by</a:t>
            </a:r>
          </a:p>
        </p:txBody>
      </p:sp>
      <p:sp>
        <p:nvSpPr>
          <p:cNvPr id="42" name="Straight Connector 41">
            <a:extLst xmlns:a="http://schemas.openxmlformats.org/drawingml/2006/main">
              <a:ext uri="{FF2B5EF4-FFF2-40B4-BE49-F238E27FC236}">
                <a16:creationId xmlns:a16="http://schemas.microsoft.com/office/drawing/2014/main" id="{CCC642CE-41DC-4CF9-A09C-B776FD58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269873"/>
            <a:ext cx="0" cy="47308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49" name="Straight Connector 48">
            <a:extLst xmlns:a="http://schemas.openxmlformats.org/drawingml/2006/main">
              <a:ext uri="{FF2B5EF4-FFF2-40B4-BE49-F238E27FC236}">
                <a16:creationId xmlns:a16="http://schemas.microsoft.com/office/drawing/2014/main" id="{D0065E92-C23B-4878-8D6A-FB972A13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50823"/>
            <a:ext cx="108859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F8F8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50" name="Field in System header">
            <a:extLst xmlns:a="http://schemas.openxmlformats.org/drawingml/2006/main">
              <a:ext uri="{FF2B5EF4-FFF2-40B4-BE49-F238E27FC236}">
                <a16:creationId xmlns:a16="http://schemas.microsoft.com/office/drawing/2014/main" id="{EAFABED2-2A77-4603-92E3-6AB35ECF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067848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F2937"/>
                </a:solidFill>
              </a:defRPr>
            </a:pPr>
            <a:r>
              <a:rPr sz="638" b="1">
                <a:solidFill>
                  <a:srgbClr val="1F2937"/>
                </a:solidFill>
              </a:rPr>
              <a:t>Field in System</a:t>
            </a:r>
          </a:p>
        </p:txBody>
      </p:sp>
      <p:sp>
        <p:nvSpPr>
          <p:cNvPr id="51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8E0D7197-BFB7-467E-9E9B-24390EB8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38250"/>
            <a:ext cx="9525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2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EB4402A8-ADEC-4A93-82A4-E4E4422F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238250"/>
            <a:ext cx="9525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3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1B9C668F-DDB7-472E-AF05-06273207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38250"/>
            <a:ext cx="9525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4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3A32198A-03DC-41DE-BD9F-BC8AFBDE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238250"/>
            <a:ext cx="9525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5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FDA6D937-3786-4F49-88FA-65FF56EE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238250"/>
            <a:ext cx="9525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6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4957C46C-2672-41DC-B02E-3D381CBE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238250"/>
            <a:ext cx="9525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7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750BB353-E4E2-40FF-8901-8F15F464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238250"/>
            <a:ext cx="9525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80985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35E80EF-F0DA-4B01-A1DA-3D8DA8E3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3EB"/>
          </a:solidFill>
          <a:ln xmlns:a="http://schemas.openxmlformats.org/drawingml/2006/main" w="12700">
            <a:solidFill>
              <a:srgbClr val="28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99E09E-2E1B-415E-AAAD-4AAF267D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3474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863EB"/>
                </a:solidFill>
                <a:latin typeface="Aptos"/>
                <a:ea typeface="Aptos"/>
                <a:cs typeface="Aptos"/>
              </a:rPr>
              <a:t>PRODUCTIVITY AND EFFICIENCY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9A299DE-47BB-4ACB-A74B-1D1712E9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Technician KPI Formulas</a:t>
            </a:r>
          </a:p>
          <a:p xmlns:a="http://schemas.openxmlformats.org/drawingml/2006/main">
            <a:endParaRPr sz="2400"/>
          </a:p>
          <a:p xmlns:a="http://schemas.openxmlformats.org/drawingml/2006/main">
            <a:pPr marL="0" indent="0">
              <a:buNone/>
            </a:pPr>
            <a:endParaRPr sz="3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91223E1-C3F6-4A43-AF83-63439534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987552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9A0350D-DC4C-411F-A8B8-75A5BF89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395728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0D5DD">
                <a:alpha val="7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B705FA4-D54E-41FC-8C96-A67DD9A3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45920"/>
            <a:ext cx="54864" cy="704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3EB"/>
          </a:solidFill>
          <a:ln xmlns:a="http://schemas.openxmlformats.org/drawingml/2006/main" w="12700">
            <a:solidFill>
              <a:srgbClr val="28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CFD322B-BA9F-4F35-8B4F-39EB277B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72768"/>
            <a:ext cx="1762125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Technician Utilisation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3FAC2FE-FA1B-45BF-865F-6B867E3B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572768"/>
            <a:ext cx="3857625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03" b="0">
                <a:solidFill>
                  <a:srgbClr val="172033"/>
                </a:solidFill>
              </a:defRPr>
            </a:pPr>
            <a:r>
              <a:rPr sz="10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Productive Hours ÷ Available Hours( HR PAYSILP) × 100%</a:t>
            </a:r>
            <a:r>
              <a:rPr sz="1000" b="0" i="1">
                <a:solidFill>
                  <a:srgbClr val="172033"/>
                </a:solidFill>
                <a:latin typeface="Aptos"/>
                <a:ea typeface="Aptos"/>
                <a:cs typeface="Aptos"/>
              </a:rPr>
              <a:t>   Target: &gt;90%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6F68CD9-0B25-448B-845F-F5219B27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355848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0D5DD">
                <a:alpha val="7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3314FDA-E6FA-4F24-85CE-E9F4C58C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06040"/>
            <a:ext cx="54864" cy="704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3EB"/>
          </a:solidFill>
          <a:ln xmlns:a="http://schemas.openxmlformats.org/drawingml/2006/main" w="12700">
            <a:solidFill>
              <a:srgbClr val="28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331B174-9E35-4D22-AB6B-E7D6FA09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32888"/>
            <a:ext cx="1762125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Technician Efficiency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B249C1-CDC4-442A-9372-E3501CEF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32888"/>
            <a:ext cx="3857625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03" b="0">
                <a:solidFill>
                  <a:srgbClr val="172033"/>
                </a:solidFill>
              </a:defRPr>
            </a:pPr>
            <a:r>
              <a:rPr sz="10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Sold / Billed Hours(Claim time in C4C LabourHours) ÷ Productive Hours (missing) × 100%</a:t>
            </a:r>
            <a:r>
              <a:rPr sz="1000" b="0" i="1">
                <a:solidFill>
                  <a:srgbClr val="172033"/>
                </a:solidFill>
                <a:latin typeface="Aptos"/>
                <a:ea typeface="Aptos"/>
                <a:cs typeface="Aptos"/>
              </a:rPr>
              <a:t>   Target: &gt;110%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97F16E8-E795-4837-B14A-590C7018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15968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0D5DD">
                <a:alpha val="7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FD30046-1923-4353-A8E0-D5118052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54864" cy="704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3EB"/>
          </a:solidFill>
          <a:ln xmlns:a="http://schemas.openxmlformats.org/drawingml/2006/main" w="12700">
            <a:solidFill>
              <a:srgbClr val="28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BDCC2CD-F91F-43FE-B6CE-3853ACAF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93008"/>
            <a:ext cx="1762125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Technician Productivity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D404622-3CA3-4F09-BD56-22EDF867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93008"/>
            <a:ext cx="3857625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03" b="0">
                <a:solidFill>
                  <a:srgbClr val="172033"/>
                </a:solidFill>
              </a:defRPr>
            </a:pPr>
            <a:r>
              <a:rPr sz="10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Sold / Billed Hours ÷ Available Hours × 100%</a:t>
            </a:r>
            <a:r>
              <a:rPr sz="1000" b="0" i="1">
                <a:solidFill>
                  <a:srgbClr val="172033"/>
                </a:solidFill>
                <a:latin typeface="Aptos"/>
                <a:ea typeface="Aptos"/>
                <a:cs typeface="Aptos"/>
              </a:rPr>
              <a:t>   Target: 110% to 130%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C2E560A-E6CE-41CF-AC6A-5AE560E8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286500" cy="6477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0D5DD"/>
            </a:solidFill>
            <a:prstDash val="solid"/>
          </a:ln>
          <a:effectLst xmlns:a="http://schemas.openxmlformats.org/drawingml/2006/main">
            <a:outerShdw blurRad="19050" dist="762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DB6C2EA-CF90-4259-B365-284B4CBD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0537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825" b="1">
                <a:solidFill>
                  <a:srgbClr val="172033"/>
                </a:solidFill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Relationship check: Productivity ≈ Utilisation × Efficiency</a:t>
            </a:r>
            <a:endParaRPr sz="172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C6E719C-9667-49B5-A386-B9BD1300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56" y="6513237"/>
            <a:ext cx="11064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Confirm whether “sold hours”, “billed hours”, and “productive hours” come from the same source system.</a:t>
            </a:r>
            <a:endParaRPr sz="950"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373F874-8A19-45D0-B93A-1DB0DA78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69" y="1140038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18233A"/>
                </a:solidFill>
              </a:defRPr>
            </a:pPr>
            <a:r>
              <a:rPr sz="1000" b="1">
                <a:solidFill>
                  <a:srgbClr val="18233A"/>
                </a:solidFill>
              </a:rPr>
              <a:t>KPI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A5F8AB5-FD2D-4A77-8963-9D187F29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15561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18233A"/>
                </a:solidFill>
              </a:defRPr>
            </a:pPr>
            <a:r>
              <a:rPr sz="1000" b="1">
                <a:solidFill>
                  <a:srgbClr val="18233A"/>
                </a:solidFill>
              </a:rPr>
              <a:t>Formula / Source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5C11CC9-F8A7-4516-9B1A-56C48E7E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32237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1F2937"/>
                </a:solidFill>
              </a:defRPr>
            </a:pPr>
            <a:r>
              <a:rPr sz="690" b="1">
                <a:solidFill>
                  <a:srgbClr val="1F2937"/>
                </a:solidFill>
              </a:rPr>
              <a:t>Next Step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2DD7111-CE02-4EB8-835F-8B84CA08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32237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1F2937"/>
                </a:solidFill>
              </a:defRPr>
            </a:pPr>
            <a:r>
              <a:rPr sz="690" b="1">
                <a:solidFill>
                  <a:srgbClr val="1F2937"/>
                </a:solidFill>
              </a:rPr>
              <a:t>Priority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9A63EFF-350C-495E-95BA-E3FD7824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132237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1F2937"/>
                </a:solidFill>
              </a:defRPr>
            </a:pPr>
            <a:r>
              <a:rPr sz="690" b="1">
                <a:solidFill>
                  <a:srgbClr val="1F2937"/>
                </a:solidFill>
              </a:rPr>
              <a:t>Alternative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52233EB-6F32-4A66-BF42-2D11FB34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132237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1F2937"/>
                </a:solidFill>
              </a:defRPr>
            </a:pPr>
            <a:r>
              <a:rPr sz="690" b="1">
                <a:solidFill>
                  <a:srgbClr val="1F2937"/>
                </a:solidFill>
              </a:rPr>
              <a:t>Due date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6FCCAF3-5229-435F-8DF5-26505501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32237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30" b="1">
                <a:solidFill>
                  <a:srgbClr val="1F2937"/>
                </a:solidFill>
              </a:defRPr>
            </a:pPr>
            <a:r>
              <a:rPr sz="630" b="1">
                <a:solidFill>
                  <a:srgbClr val="1F2937"/>
                </a:solidFill>
              </a:rPr>
              <a:t>Responsible by</a:t>
            </a:r>
          </a:p>
        </p:txBody>
      </p:sp>
      <p:sp>
        <p:nvSpPr>
          <p:cNvPr id="28" name="Straight Connector 27">
            <a:extLst xmlns:a="http://schemas.openxmlformats.org/drawingml/2006/main">
              <a:ext uri="{FF2B5EF4-FFF2-40B4-BE49-F238E27FC236}">
                <a16:creationId xmlns:a16="http://schemas.microsoft.com/office/drawing/2014/main" id="{5807552E-BEBF-45BD-9909-6D14EE9B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544193"/>
            <a:ext cx="0" cy="44565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Straight Connector 34">
            <a:extLst xmlns:a="http://schemas.openxmlformats.org/drawingml/2006/main">
              <a:ext uri="{FF2B5EF4-FFF2-40B4-BE49-F238E27FC236}">
                <a16:creationId xmlns:a16="http://schemas.microsoft.com/office/drawing/2014/main" id="{FDB67662-5927-43A0-BF3C-9A86ADFC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2768"/>
            <a:ext cx="108859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F8F8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08A89AD4-96A5-8C82-849E-1CCC3C84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933" y="1134533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6F7D2D66-DB11-086B-336E-C9E82053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5848" y="1812021"/>
            <a:ext cx="158601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Waiting for PH</a:t>
            </a:r>
            <a:endParaRPr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543110C1-F418-9F9F-06D1-70891FD5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073" y="1805154"/>
            <a:ext cx="9909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PH = SH</a:t>
            </a:r>
            <a:endParaRPr/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B8C02FDB-C66D-CC1F-C495-A8DDF38B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608" y="3724528"/>
            <a:ext cx="158601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Waiting for PH</a:t>
            </a:r>
            <a:endParaRPr/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0546EE1B-9701-5172-E0BF-DEB613A6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652" y="2725989"/>
            <a:ext cx="158601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Waiting for PH</a:t>
            </a:r>
            <a:endParaRPr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D3DC2AB6-8D28-9F71-4ED5-AE100A23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1787" y="2709208"/>
            <a:ext cx="9909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PH = SH</a:t>
            </a:r>
            <a:endParaRPr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E5D0998B-5C98-CD4D-10D1-563FCB14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646" y="3701133"/>
            <a:ext cx="9909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PH = SH</a:t>
            </a:r>
            <a:endParaRPr/>
          </a:p>
        </p:txBody>
      </p:sp>
      <p:sp>
        <p:nvSpPr>
          <p:cNvPr id="50" name="Field in System header">
            <a:extLst xmlns:a="http://schemas.openxmlformats.org/drawingml/2006/main">
              <a:ext uri="{FF2B5EF4-FFF2-40B4-BE49-F238E27FC236}">
                <a16:creationId xmlns:a16="http://schemas.microsoft.com/office/drawing/2014/main" id="{59D8185B-80AD-43EB-A582-279E46D8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132237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F2937"/>
                </a:solidFill>
              </a:defRPr>
            </a:pPr>
            <a:r>
              <a:rPr sz="638" b="1">
                <a:solidFill>
                  <a:srgbClr val="1F2937"/>
                </a:solidFill>
              </a:rPr>
              <a:t>Field in System</a:t>
            </a:r>
          </a:p>
        </p:txBody>
      </p:sp>
      <p:sp>
        <p:nvSpPr>
          <p:cNvPr id="51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40997F01-CBAD-4427-8D5F-88E232A1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95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2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E3F7C007-D867-4896-BEDD-16D4AC1C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24000"/>
            <a:ext cx="95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3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6339F71A-D04A-44C6-94E6-1889628A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95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4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95A00350-8D48-465C-9E64-E359B147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24000"/>
            <a:ext cx="95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5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8A251A47-4DAE-4D2F-8A86-29595D20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524000"/>
            <a:ext cx="95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6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02DA786F-E7E4-4FBC-A2D7-20811DA9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524000"/>
            <a:ext cx="95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7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AD5A2B02-5B75-4D2F-A454-3D8808EF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524000"/>
            <a:ext cx="95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37445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B45B2-1609-4153-BB26-83A99B06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19D27C1-6875-46F5-BB26-18066DD1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3474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OPERATIONS AND CUSTOMER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FB1C3F5-A4E0-4731-BA8C-1CF81024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85216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Customer &amp; Workflow KPI Formulas</a:t>
            </a:r>
            <a:endParaRPr sz="3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3EA67C8-EEBD-4B9B-90C8-93CF720E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78992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A469450-67AD-47C1-B65F-E6987B45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9339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0D5DD">
                <a:alpha val="7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B3AB0CD-D3B1-47E3-A005-8BA08AD0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44752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F6402B7-A245-4860-A84C-F5E5BFB9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71600"/>
            <a:ext cx="176212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172033"/>
                </a:solidFill>
              </a:defRPr>
            </a:pPr>
            <a:r>
              <a:rPr sz="10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Rework Rate</a:t>
            </a:r>
            <a:endParaRPr sz="1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AC87C85-11A4-48C4-9086-F53A37F5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371600"/>
            <a:ext cx="385762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03" b="0">
                <a:solidFill>
                  <a:srgbClr val="172033"/>
                </a:solidFill>
              </a:defRPr>
            </a:pPr>
            <a:r>
              <a:rPr sz="10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Repeat Repair Orders for Same Issue(same chassis number&amp; description) ÷ Total Completed Repair Orders(c4c) × 100%</a:t>
            </a:r>
            <a:r>
              <a:rPr sz="1000" b="0" i="1">
                <a:solidFill>
                  <a:srgbClr val="172033"/>
                </a:solidFill>
                <a:latin typeface="Aptos"/>
                <a:ea typeface="Aptos"/>
                <a:cs typeface="Aptos"/>
              </a:rPr>
              <a:t>   Target: &lt;5%  Used cars- rego     field: chassis, add/restart brand field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5A7A95C-2C99-4EC0-9638-DF443CA6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97480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0D5DD">
                <a:alpha val="7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50BF8E4-003A-4523-BFBC-403F798F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1945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B63EF09-56E9-431F-8BB6-59B792EC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21408"/>
            <a:ext cx="176212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172033"/>
                </a:solidFill>
              </a:defRPr>
            </a:pPr>
            <a:r>
              <a:rPr sz="10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Fixed First Time Right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1FC0C0A-1520-4840-A717-76D2E297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21408"/>
            <a:ext cx="385762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03" b="0">
                <a:solidFill>
                  <a:srgbClr val="172033"/>
                </a:solidFill>
              </a:defRPr>
            </a:pPr>
            <a:r>
              <a:rPr sz="10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100% − Rework Rate</a:t>
            </a:r>
            <a:r>
              <a:rPr sz="1000" b="0" i="1">
                <a:solidFill>
                  <a:srgbClr val="172033"/>
                </a:solidFill>
                <a:latin typeface="Aptos"/>
                <a:ea typeface="Aptos"/>
                <a:cs typeface="Aptos"/>
              </a:rPr>
              <a:t>   Target: &gt;95%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69612C9-BAEB-443F-A78E-3E3F7F55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01568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0D5DD">
                <a:alpha val="7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14B94FB-117D-48E6-AAB8-CF3F7BE6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98648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0F7DBB3-4DB9-4DC5-B503-D35B19C2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25496"/>
            <a:ext cx="176212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172033"/>
                </a:solidFill>
              </a:defRPr>
            </a:pPr>
            <a:r>
              <a:rPr sz="10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Quotation Approval Rate</a:t>
            </a:r>
            <a:endParaRPr sz="1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536B155-0604-4AFF-964E-9CD2561A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25496"/>
            <a:ext cx="385762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03" b="0">
                <a:solidFill>
                  <a:srgbClr val="172033"/>
                </a:solidFill>
              </a:defRPr>
            </a:pPr>
            <a:r>
              <a:rPr sz="10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(Total Quotations Sent – Cancel) ÷ Total Quotations Sent × 100%</a:t>
            </a:r>
            <a:r>
              <a:rPr sz="1000" b="0" i="1">
                <a:solidFill>
                  <a:srgbClr val="172033"/>
                </a:solidFill>
                <a:latin typeface="Aptos"/>
                <a:ea typeface="Aptos"/>
                <a:cs typeface="Aptos"/>
              </a:rPr>
              <a:t>   Target: &gt;70%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D11C4C0-C6D8-40FC-9BC1-8DE6D04D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05656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0D5DD">
                <a:alpha val="7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F191050-1A73-4066-86A6-E733A6B1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02736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89B49C9-FB0B-4AD1-85FF-DA688CF4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29584"/>
            <a:ext cx="176212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172033"/>
                </a:solidFill>
              </a:defRPr>
            </a:pPr>
            <a:r>
              <a:rPr sz="10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Customer Retention Rate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1124561-81D7-427A-BB00-AD487194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29584"/>
            <a:ext cx="385762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03" b="0">
                <a:solidFill>
                  <a:srgbClr val="172033"/>
                </a:solidFill>
              </a:defRPr>
            </a:pPr>
            <a:r>
              <a:rPr sz="10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Returning Customers(same customer in C4C) ÷ Eligible Existing Customers × 100%</a:t>
            </a:r>
            <a:r>
              <a:rPr sz="1000" b="0" i="1">
                <a:solidFill>
                  <a:srgbClr val="172033"/>
                </a:solidFill>
                <a:latin typeface="Aptos"/>
                <a:ea typeface="Aptos"/>
                <a:cs typeface="Aptos"/>
              </a:rPr>
              <a:t>   Target: &gt;90%</a:t>
            </a:r>
            <a:endParaRPr sz="10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80D79A1-7D59-4C5F-8C81-929AA34D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10328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0D5DD">
                <a:alpha val="7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2A410E3-C94D-4A29-863D-9D00FBBD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06824"/>
            <a:ext cx="54864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1C7685A-651C-4707-8123-0B38DC94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33672"/>
            <a:ext cx="176212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172033"/>
                </a:solidFill>
              </a:defRPr>
            </a:pPr>
            <a:r>
              <a:rPr sz="10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Retail RO Growth Rate MOM*</a:t>
            </a:r>
            <a:endParaRPr sz="1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9D581C8-D41B-4767-AF82-57977990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33672"/>
            <a:ext cx="385762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03" b="0">
                <a:solidFill>
                  <a:srgbClr val="172033"/>
                </a:solidFill>
              </a:defRPr>
            </a:pPr>
            <a:r>
              <a:rPr sz="10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(Current M Retail Ros(C4C) − Previous M Retail Ros(C4C)) ÷ Previous M Retail ROs × 100%</a:t>
            </a:r>
            <a:r>
              <a:rPr sz="1000" b="0" i="1">
                <a:solidFill>
                  <a:srgbClr val="172033"/>
                </a:solidFill>
                <a:latin typeface="Aptos"/>
                <a:ea typeface="Aptos"/>
                <a:cs typeface="Aptos"/>
              </a:rPr>
              <a:t>   Target: 3% to 6%</a:t>
            </a:r>
            <a:endParaRPr sz="10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2E77996-18DD-482E-B650-DB681C81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614416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0D5DD">
                <a:alpha val="7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08F4C00-0D0E-47CB-BCDD-55944F67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11496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5DE94CE-5403-4445-A9D8-BEF5EE79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38344"/>
            <a:ext cx="176212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172033"/>
                </a:solidFill>
              </a:defRPr>
            </a:pPr>
            <a:r>
              <a:rPr sz="10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Service Appointment Lead Time</a:t>
            </a:r>
            <a:endParaRPr sz="10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2DADF20-A91C-4E6E-AE5D-3161DE6B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38344"/>
            <a:ext cx="385762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03" b="0">
                <a:solidFill>
                  <a:srgbClr val="172033"/>
                </a:solidFill>
              </a:defRPr>
            </a:pPr>
            <a:r>
              <a:rPr sz="10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Appointment Date( Start working on repairing) calendar date− Booking Request Date(Created on)</a:t>
            </a:r>
            <a:r>
              <a:rPr sz="1000" b="0" i="1">
                <a:solidFill>
                  <a:srgbClr val="172033"/>
                </a:solidFill>
                <a:latin typeface="Aptos"/>
                <a:ea typeface="Aptos"/>
                <a:cs typeface="Aptos"/>
              </a:rPr>
              <a:t>  Target: 3 to 7 days</a:t>
            </a:r>
            <a:endParaRPr sz="10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22417B6-7D0F-43DB-BE84-8B61E27D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11064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67085"/>
                </a:solidFill>
                <a:latin typeface="Aptos"/>
                <a:ea typeface="Aptos"/>
                <a:cs typeface="Aptos"/>
              </a:rPr>
              <a:t>For RO growth and retention, define the exact customer group and reporting period before automation.</a:t>
            </a:r>
            <a:endParaRPr sz="950"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6CDD7017-3DB4-417F-A8DC-679997E4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3347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18233A"/>
                </a:solidFill>
              </a:defRPr>
            </a:pPr>
            <a:r>
              <a:rPr sz="1000" b="1">
                <a:solidFill>
                  <a:srgbClr val="18233A"/>
                </a:solidFill>
              </a:rPr>
              <a:t>KPI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0948764B-DBB2-4DDC-AAFE-8920AA58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13347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18233A"/>
                </a:solidFill>
              </a:defRPr>
            </a:pPr>
            <a:r>
              <a:rPr sz="1000" b="1">
                <a:solidFill>
                  <a:srgbClr val="18233A"/>
                </a:solidFill>
              </a:rPr>
              <a:t>Formula / Source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632AE3EC-F5C5-44F5-870F-7477B06A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334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1F2937"/>
                </a:solidFill>
              </a:defRPr>
            </a:pPr>
            <a:r>
              <a:rPr sz="690" b="1">
                <a:solidFill>
                  <a:srgbClr val="1F2937"/>
                </a:solidFill>
              </a:rPr>
              <a:t>Next Step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C54BB5AF-8B3D-4C9C-940E-0B50BD3F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334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1F2937"/>
                </a:solidFill>
              </a:defRPr>
            </a:pPr>
            <a:r>
              <a:rPr sz="690" b="1">
                <a:solidFill>
                  <a:srgbClr val="1F2937"/>
                </a:solidFill>
              </a:rPr>
              <a:t>Priority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16138CF6-8A23-405D-8B2B-EEF7ECC5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1334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1F2937"/>
                </a:solidFill>
              </a:defRPr>
            </a:pPr>
            <a:r>
              <a:rPr sz="690" b="1">
                <a:solidFill>
                  <a:srgbClr val="1F2937"/>
                </a:solidFill>
              </a:rPr>
              <a:t>Alternative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8C88550-7141-4634-8D45-2D72F010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13347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1F2937"/>
                </a:solidFill>
              </a:defRPr>
            </a:pPr>
            <a:r>
              <a:rPr sz="690" b="1">
                <a:solidFill>
                  <a:srgbClr val="1F2937"/>
                </a:solidFill>
              </a:rPr>
              <a:t>Due date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09E3529A-964E-4A81-8D57-ABFC7B76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3347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30" b="1">
                <a:solidFill>
                  <a:srgbClr val="1F2937"/>
                </a:solidFill>
              </a:defRPr>
            </a:pPr>
            <a:r>
              <a:rPr sz="630" b="1">
                <a:solidFill>
                  <a:srgbClr val="1F2937"/>
                </a:solidFill>
              </a:rPr>
              <a:t>Responsible by</a:t>
            </a:r>
          </a:p>
        </p:txBody>
      </p:sp>
      <p:sp>
        <p:nvSpPr>
          <p:cNvPr id="38" name="Straight Connector 37">
            <a:extLst xmlns:a="http://schemas.openxmlformats.org/drawingml/2006/main">
              <a:ext uri="{FF2B5EF4-FFF2-40B4-BE49-F238E27FC236}">
                <a16:creationId xmlns:a16="http://schemas.microsoft.com/office/drawing/2014/main" id="{BB246D8D-2BAA-4423-A50E-F98EE2F3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343025"/>
            <a:ext cx="0" cy="465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45" name="Straight Connector 44">
            <a:extLst xmlns:a="http://schemas.openxmlformats.org/drawingml/2006/main">
              <a:ext uri="{FF2B5EF4-FFF2-40B4-BE49-F238E27FC236}">
                <a16:creationId xmlns:a16="http://schemas.microsoft.com/office/drawing/2014/main" id="{9BAE7D5D-3712-47B2-8507-AB5B3E1C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3975"/>
            <a:ext cx="108859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F8F8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46" name="Field in System header">
            <a:extLst xmlns:a="http://schemas.openxmlformats.org/drawingml/2006/main">
              <a:ext uri="{FF2B5EF4-FFF2-40B4-BE49-F238E27FC236}">
                <a16:creationId xmlns:a16="http://schemas.microsoft.com/office/drawing/2014/main" id="{A8A61F35-006D-413C-81A4-A8D96720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1334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F2937"/>
                </a:solidFill>
              </a:defRPr>
            </a:pPr>
            <a:r>
              <a:rPr sz="638" b="1">
                <a:solidFill>
                  <a:srgbClr val="1F2937"/>
                </a:solidFill>
              </a:rPr>
              <a:t>Field in System</a:t>
            </a:r>
          </a:p>
        </p:txBody>
      </p:sp>
      <p:sp>
        <p:nvSpPr>
          <p:cNvPr id="47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DF35D18E-71C3-4239-A2C4-15177A04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33500"/>
            <a:ext cx="9525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8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A4D825C0-0D2E-4110-A163-D43289DE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333500"/>
            <a:ext cx="9525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9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BE41D95D-A9FE-4AD9-9338-7E1EE00B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33500"/>
            <a:ext cx="9525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0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91178214-B3D6-4E75-A19E-AB253F20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33500"/>
            <a:ext cx="9525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1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070AF76C-F951-41F3-AEEA-E93E54D9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333500"/>
            <a:ext cx="9525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2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3FB42767-28F2-4EB8-84A5-BB07E5A2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333500"/>
            <a:ext cx="9525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3" name="Action column divider">
            <a:extLst xmlns:a="http://schemas.openxmlformats.org/drawingml/2006/main">
              <a:ext uri="{FF2B5EF4-FFF2-40B4-BE49-F238E27FC236}">
                <a16:creationId xmlns:a16="http://schemas.microsoft.com/office/drawing/2014/main" id="{BEF9EA41-9DC2-4D74-B174-2F8C4B7C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333500"/>
            <a:ext cx="9525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591098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2026-08-27T00:25:28.5880000Z</dcterms:created>
  <dcterms:modified xsi:type="dcterms:W3CDTF">2026-08-27T00:25:28.5880000Z</dcterms:modified>
</coreProperties>
</file>