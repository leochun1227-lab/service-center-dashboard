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5240000" cy="8572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38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895D1C9-1C64-471F-B079-02BE43A4802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24765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0C73016-EA32-4114-BBD2-56094AF41420}"/>
              </a:ext>
            </a:extLst>
          </p:cNvPr>
          <p:cNvSpPr>
            <a:spLocks noGrp="1"/>
          </p:cNvSpPr>
          <p:nvPr/>
        </p:nvSpPr>
        <p:spPr>
          <a:xfrm>
            <a:off x="857250" y="1143000"/>
            <a:ext cx="571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0F766E"/>
                </a:solidFill>
              </a:defRPr>
            </a:pPr>
            <a:r>
              <a:rPr sz="1350" b="1" i="0">
                <a:solidFill>
                  <a:srgbClr val="0F766E"/>
                </a:solidFill>
              </a:rPr>
              <a:t>SERVICE CENTRE KPI READINESS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79C5B5-F9AB-46AA-8F57-77D3DD55A30A}"/>
              </a:ext>
            </a:extLst>
          </p:cNvPr>
          <p:cNvSpPr>
            <a:spLocks noGrp="1"/>
          </p:cNvSpPr>
          <p:nvPr/>
        </p:nvSpPr>
        <p:spPr>
          <a:xfrm>
            <a:off x="857250" y="1638300"/>
            <a:ext cx="10668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200" b="1" i="0">
                <a:solidFill>
                  <a:srgbClr val="111827"/>
                </a:solidFill>
              </a:defRPr>
            </a:pPr>
            <a:r>
              <a:rPr sz="4200" b="1" i="0">
                <a:solidFill>
                  <a:srgbClr val="111827"/>
                </a:solidFill>
              </a:rPr>
              <a:t>KPI Formulas and Next Steps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C6F3DC-AB5C-4DC9-8FF6-34608DA32FDD}"/>
              </a:ext>
            </a:extLst>
          </p:cNvPr>
          <p:cNvSpPr>
            <a:spLocks noGrp="1"/>
          </p:cNvSpPr>
          <p:nvPr/>
        </p:nvSpPr>
        <p:spPr>
          <a:xfrm>
            <a:off x="876300" y="2476500"/>
            <a:ext cx="10096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 i="0">
                <a:solidFill>
                  <a:srgbClr val="64748B"/>
                </a:solidFill>
              </a:defRPr>
            </a:pPr>
            <a:r>
              <a:rPr sz="1875" b="0" i="0">
                <a:solidFill>
                  <a:srgbClr val="64748B"/>
                </a:solidFill>
              </a:rPr>
              <a:t>Readable PPT version with larger type, clearer spacing and Field in System before each implementation step.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2DE2F0-10F4-4D2F-B004-D8A6823B3485}"/>
              </a:ext>
            </a:extLst>
          </p:cNvPr>
          <p:cNvSpPr>
            <a:spLocks noGrp="1"/>
          </p:cNvSpPr>
          <p:nvPr/>
        </p:nvSpPr>
        <p:spPr>
          <a:xfrm>
            <a:off x="857250" y="3714750"/>
            <a:ext cx="118110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ECEAD7-A349-470E-9294-B557FFA324FE}"/>
              </a:ext>
            </a:extLst>
          </p:cNvPr>
          <p:cNvSpPr>
            <a:spLocks noGrp="1"/>
          </p:cNvSpPr>
          <p:nvPr/>
        </p:nvSpPr>
        <p:spPr>
          <a:xfrm>
            <a:off x="1047750" y="4238625"/>
            <a:ext cx="152400" cy="152400"/>
          </a:xfrm>
          <a:prstGeom prst="rect">
            <a:avLst/>
          </a:prstGeom>
          <a:solidFill>
            <a:srgbClr val="DC2626"/>
          </a:solidFill>
          <a:ln w="0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C84707-F4C0-410E-93E0-86D510E01695}"/>
              </a:ext>
            </a:extLst>
          </p:cNvPr>
          <p:cNvSpPr>
            <a:spLocks noGrp="1"/>
          </p:cNvSpPr>
          <p:nvPr/>
        </p:nvSpPr>
        <p:spPr>
          <a:xfrm>
            <a:off x="1428750" y="4076700"/>
            <a:ext cx="9525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0" i="0">
                <a:solidFill>
                  <a:srgbClr val="111827"/>
                </a:solidFill>
              </a:defRPr>
            </a:pPr>
            <a:r>
              <a:rPr sz="2100" b="0" i="0">
                <a:solidFill>
                  <a:srgbClr val="111827"/>
                </a:solidFill>
              </a:rPr>
              <a:t>Financial source confirmation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258F23-76DD-47D0-BE33-C7913F4A63D2}"/>
              </a:ext>
            </a:extLst>
          </p:cNvPr>
          <p:cNvSpPr>
            <a:spLocks noGrp="1"/>
          </p:cNvSpPr>
          <p:nvPr/>
        </p:nvSpPr>
        <p:spPr>
          <a:xfrm>
            <a:off x="1047750" y="4981575"/>
            <a:ext cx="152400" cy="1524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4CCD11-F7A8-4075-BD0F-8F4A6D899D0A}"/>
              </a:ext>
            </a:extLst>
          </p:cNvPr>
          <p:cNvSpPr>
            <a:spLocks noGrp="1"/>
          </p:cNvSpPr>
          <p:nvPr/>
        </p:nvSpPr>
        <p:spPr>
          <a:xfrm>
            <a:off x="1428750" y="4819650"/>
            <a:ext cx="9525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0" i="0">
                <a:solidFill>
                  <a:srgbClr val="111827"/>
                </a:solidFill>
              </a:defRPr>
            </a:pPr>
            <a:r>
              <a:rPr sz="2100" b="0" i="0">
                <a:solidFill>
                  <a:srgbClr val="111827"/>
                </a:solidFill>
              </a:rPr>
              <a:t>Technician setup and labour capture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7C52B0-E507-4F98-9AB0-28BFD55DDAEF}"/>
              </a:ext>
            </a:extLst>
          </p:cNvPr>
          <p:cNvSpPr>
            <a:spLocks noGrp="1"/>
          </p:cNvSpPr>
          <p:nvPr/>
        </p:nvSpPr>
        <p:spPr>
          <a:xfrm>
            <a:off x="1047750" y="5724525"/>
            <a:ext cx="152400" cy="15240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9FB004-4AF6-4657-9414-D6E94672C33E}"/>
              </a:ext>
            </a:extLst>
          </p:cNvPr>
          <p:cNvSpPr>
            <a:spLocks noGrp="1"/>
          </p:cNvSpPr>
          <p:nvPr/>
        </p:nvSpPr>
        <p:spPr>
          <a:xfrm>
            <a:off x="1428750" y="5562600"/>
            <a:ext cx="9525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0" i="0">
                <a:solidFill>
                  <a:srgbClr val="111827"/>
                </a:solidFill>
              </a:defRPr>
            </a:pPr>
            <a:r>
              <a:rPr sz="2100" b="0" i="0">
                <a:solidFill>
                  <a:srgbClr val="111827"/>
                </a:solidFill>
              </a:rPr>
              <a:t>Operations rules for rework, quote and appointment KPIs</a:t>
            </a:r>
          </a:p>
        </p:txBody>
      </p:sp>
    </p:spTree>
    <p:extLst>
      <p:ext uri="{BB962C8B-B14F-4D97-AF65-F5344CB8AC3E}">
        <p14:creationId xmlns:p14="http://schemas.microsoft.com/office/powerpoint/2010/main" val="1719671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DE9B538-4372-4932-B854-3A4489EA1AA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7145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8324C9E-E8B5-48DA-9A0C-2A96F43C742B}"/>
              </a:ext>
            </a:extLst>
          </p:cNvPr>
          <p:cNvSpPr>
            <a:spLocks noGrp="1"/>
          </p:cNvSpPr>
          <p:nvPr/>
        </p:nvSpPr>
        <p:spPr>
          <a:xfrm>
            <a:off x="762000" y="4762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0F766E"/>
                </a:solidFill>
              </a:defRPr>
            </a:pPr>
            <a:r>
              <a:rPr sz="1200" b="1" i="0">
                <a:solidFill>
                  <a:srgbClr val="0F766E"/>
                </a:solidFill>
              </a:rPr>
              <a:t>SERVICE CENTRE DASHBOARD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DB5AA8-2655-4A82-941A-D0AED1FD4830}"/>
              </a:ext>
            </a:extLst>
          </p:cNvPr>
          <p:cNvSpPr>
            <a:spLocks noGrp="1"/>
          </p:cNvSpPr>
          <p:nvPr/>
        </p:nvSpPr>
        <p:spPr>
          <a:xfrm>
            <a:off x="762000" y="742950"/>
            <a:ext cx="11430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 i="0">
                <a:solidFill>
                  <a:srgbClr val="111827"/>
                </a:solidFill>
              </a:defRPr>
            </a:pPr>
            <a:r>
              <a:rPr sz="3300" b="1" i="0">
                <a:solidFill>
                  <a:srgbClr val="111827"/>
                </a:solidFill>
              </a:rPr>
              <a:t>KPI build needs system fields before automation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772B6B-0B87-4149-B25D-96AD20D5B3A5}"/>
              </a:ext>
            </a:extLst>
          </p:cNvPr>
          <p:cNvSpPr>
            <a:spLocks noGrp="1"/>
          </p:cNvSpPr>
          <p:nvPr/>
        </p:nvSpPr>
        <p:spPr>
          <a:xfrm>
            <a:off x="762000" y="1428750"/>
            <a:ext cx="137160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7B4DF8-6738-43AA-B648-DEF875AB5788}"/>
              </a:ext>
            </a:extLst>
          </p:cNvPr>
          <p:cNvSpPr>
            <a:spLocks noGrp="1"/>
          </p:cNvSpPr>
          <p:nvPr/>
        </p:nvSpPr>
        <p:spPr>
          <a:xfrm>
            <a:off x="13906500" y="590550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02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F47D73-780B-4EB1-BC24-F2C63FC3BB8C}"/>
              </a:ext>
            </a:extLst>
          </p:cNvPr>
          <p:cNvSpPr>
            <a:spLocks noGrp="1"/>
          </p:cNvSpPr>
          <p:nvPr/>
        </p:nvSpPr>
        <p:spPr>
          <a:xfrm>
            <a:off x="857250" y="1714500"/>
            <a:ext cx="12668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 i="0">
                <a:solidFill>
                  <a:srgbClr val="111827"/>
                </a:solidFill>
              </a:defRPr>
            </a:pPr>
            <a:r>
              <a:rPr sz="1800" b="0" i="0">
                <a:solidFill>
                  <a:srgbClr val="111827"/>
                </a:solidFill>
              </a:rPr>
              <a:t>This version separates formula definition from implementation readiness, so each KPI has enough room for the field name, next action, owner and fallback.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63759F-DBDA-483D-BC3C-E69E6D05E179}"/>
              </a:ext>
            </a:extLst>
          </p:cNvPr>
          <p:cNvSpPr>
            <a:spLocks noGrp="1"/>
          </p:cNvSpPr>
          <p:nvPr/>
        </p:nvSpPr>
        <p:spPr>
          <a:xfrm>
            <a:off x="952500" y="3048000"/>
            <a:ext cx="3857625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2360F8-1020-4142-B11B-0EF780B5E9EB}"/>
              </a:ext>
            </a:extLst>
          </p:cNvPr>
          <p:cNvSpPr>
            <a:spLocks noGrp="1"/>
          </p:cNvSpPr>
          <p:nvPr/>
        </p:nvSpPr>
        <p:spPr>
          <a:xfrm>
            <a:off x="952500" y="3048000"/>
            <a:ext cx="3857625" cy="76200"/>
          </a:xfrm>
          <a:prstGeom prst="rect">
            <a:avLst/>
          </a:prstGeom>
          <a:solidFill>
            <a:srgbClr val="DC2626"/>
          </a:solidFill>
          <a:ln w="0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DFADFD-7F6A-4580-9198-9AF8DF12674C}"/>
              </a:ext>
            </a:extLst>
          </p:cNvPr>
          <p:cNvSpPr>
            <a:spLocks noGrp="1"/>
          </p:cNvSpPr>
          <p:nvPr/>
        </p:nvSpPr>
        <p:spPr>
          <a:xfrm>
            <a:off x="1219200" y="3429000"/>
            <a:ext cx="3238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Financial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CBBD63-134B-4BBC-9A2B-B57111E92528}"/>
              </a:ext>
            </a:extLst>
          </p:cNvPr>
          <p:cNvSpPr>
            <a:spLocks noGrp="1"/>
          </p:cNvSpPr>
          <p:nvPr/>
        </p:nvSpPr>
        <p:spPr>
          <a:xfrm>
            <a:off x="1219200" y="4000500"/>
            <a:ext cx="3286125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111827"/>
                </a:solidFill>
              </a:defRPr>
            </a:pPr>
            <a:r>
              <a:rPr sz="1500" b="0" i="0">
                <a:solidFill>
                  <a:srgbClr val="111827"/>
                </a:solidFill>
              </a:rPr>
              <a:t>SAP invoice, SAP PO, HR/payroll and P&amp;L allocation need confirmation before margin KPIs can be automated.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A415BB-0958-453B-84DF-CFE3DC8FFB89}"/>
              </a:ext>
            </a:extLst>
          </p:cNvPr>
          <p:cNvSpPr>
            <a:spLocks noGrp="1"/>
          </p:cNvSpPr>
          <p:nvPr/>
        </p:nvSpPr>
        <p:spPr>
          <a:xfrm>
            <a:off x="5476875" y="3048000"/>
            <a:ext cx="3857625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D3867D-0822-40A8-8C98-788FAEB06A34}"/>
              </a:ext>
            </a:extLst>
          </p:cNvPr>
          <p:cNvSpPr>
            <a:spLocks noGrp="1"/>
          </p:cNvSpPr>
          <p:nvPr/>
        </p:nvSpPr>
        <p:spPr>
          <a:xfrm>
            <a:off x="5476875" y="3048000"/>
            <a:ext cx="3857625" cy="762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B674E5-1B31-4891-9966-C09CFD5F1850}"/>
              </a:ext>
            </a:extLst>
          </p:cNvPr>
          <p:cNvSpPr>
            <a:spLocks noGrp="1"/>
          </p:cNvSpPr>
          <p:nvPr/>
        </p:nvSpPr>
        <p:spPr>
          <a:xfrm>
            <a:off x="5743575" y="3429000"/>
            <a:ext cx="3238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Productivity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A65339-E4A9-4EFB-B5A8-860E9B4B7127}"/>
              </a:ext>
            </a:extLst>
          </p:cNvPr>
          <p:cNvSpPr>
            <a:spLocks noGrp="1"/>
          </p:cNvSpPr>
          <p:nvPr/>
        </p:nvSpPr>
        <p:spPr>
          <a:xfrm>
            <a:off x="5743575" y="4000500"/>
            <a:ext cx="3286125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111827"/>
                </a:solidFill>
              </a:defRPr>
            </a:pPr>
            <a:r>
              <a:rPr sz="1500" b="0" i="0">
                <a:solidFill>
                  <a:srgbClr val="111827"/>
                </a:solidFill>
              </a:rPr>
              <a:t>Technician list, assignment, roster and actual / claimed hours are the core blockers.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873950B-8E25-4CBA-BF72-8BBDB98D8C85}"/>
              </a:ext>
            </a:extLst>
          </p:cNvPr>
          <p:cNvSpPr>
            <a:spLocks noGrp="1"/>
          </p:cNvSpPr>
          <p:nvPr/>
        </p:nvSpPr>
        <p:spPr>
          <a:xfrm>
            <a:off x="10001250" y="3048000"/>
            <a:ext cx="3857625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018D545-59EA-4505-B380-2E3B63E0FE17}"/>
              </a:ext>
            </a:extLst>
          </p:cNvPr>
          <p:cNvSpPr>
            <a:spLocks noGrp="1"/>
          </p:cNvSpPr>
          <p:nvPr/>
        </p:nvSpPr>
        <p:spPr>
          <a:xfrm>
            <a:off x="10001250" y="3048000"/>
            <a:ext cx="3857625" cy="7620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2A37B7F-E4A7-4A7B-96C1-525982FDFD53}"/>
              </a:ext>
            </a:extLst>
          </p:cNvPr>
          <p:cNvSpPr>
            <a:spLocks noGrp="1"/>
          </p:cNvSpPr>
          <p:nvPr/>
        </p:nvSpPr>
        <p:spPr>
          <a:xfrm>
            <a:off x="10267950" y="3429000"/>
            <a:ext cx="3238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Operations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3FF41E-3F16-427A-BF8E-4769F302AA13}"/>
              </a:ext>
            </a:extLst>
          </p:cNvPr>
          <p:cNvSpPr>
            <a:spLocks noGrp="1"/>
          </p:cNvSpPr>
          <p:nvPr/>
        </p:nvSpPr>
        <p:spPr>
          <a:xfrm>
            <a:off x="10267950" y="4000500"/>
            <a:ext cx="3286125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111827"/>
                </a:solidFill>
              </a:defRPr>
            </a:pPr>
            <a:r>
              <a:rPr sz="1500" b="0" i="0">
                <a:solidFill>
                  <a:srgbClr val="111827"/>
                </a:solidFill>
              </a:rPr>
              <a:t>Rework rules, quote statuses and requested service date capture unlock the customer and workflow KPIs.</a:t>
            </a:r>
          </a:p>
        </p:txBody>
      </p:sp>
    </p:spTree>
    <p:extLst>
      <p:ext uri="{BB962C8B-B14F-4D97-AF65-F5344CB8AC3E}">
        <p14:creationId xmlns:p14="http://schemas.microsoft.com/office/powerpoint/2010/main" val="1592411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4EAEB4EA-A410-45E7-A158-A364D211466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7145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41FDCAF-44F2-4A92-8581-8FBC3FB31D84}"/>
              </a:ext>
            </a:extLst>
          </p:cNvPr>
          <p:cNvSpPr>
            <a:spLocks noGrp="1"/>
          </p:cNvSpPr>
          <p:nvPr/>
        </p:nvSpPr>
        <p:spPr>
          <a:xfrm>
            <a:off x="762000" y="4762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0F766E"/>
                </a:solidFill>
              </a:defRPr>
            </a:pPr>
            <a:r>
              <a:rPr sz="1200" b="1" i="0">
                <a:solidFill>
                  <a:srgbClr val="0F766E"/>
                </a:solidFill>
              </a:rPr>
              <a:t>FINANCIAL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4E47F0-04AA-4593-8769-B883AD07747E}"/>
              </a:ext>
            </a:extLst>
          </p:cNvPr>
          <p:cNvSpPr>
            <a:spLocks noGrp="1"/>
          </p:cNvSpPr>
          <p:nvPr/>
        </p:nvSpPr>
        <p:spPr>
          <a:xfrm>
            <a:off x="762000" y="742950"/>
            <a:ext cx="11430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 i="0">
                <a:solidFill>
                  <a:srgbClr val="111827"/>
                </a:solidFill>
              </a:defRPr>
            </a:pPr>
            <a:r>
              <a:rPr sz="3300" b="1" i="0">
                <a:solidFill>
                  <a:srgbClr val="111827"/>
                </a:solidFill>
              </a:rPr>
              <a:t>Financial revenue KPIs need invoice linkage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DF0A4C-5D70-428A-A3DE-5513C73B2E9F}"/>
              </a:ext>
            </a:extLst>
          </p:cNvPr>
          <p:cNvSpPr>
            <a:spLocks noGrp="1"/>
          </p:cNvSpPr>
          <p:nvPr/>
        </p:nvSpPr>
        <p:spPr>
          <a:xfrm>
            <a:off x="762000" y="1428750"/>
            <a:ext cx="137160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7526B-964E-4BF3-BC14-C6E073FCC687}"/>
              </a:ext>
            </a:extLst>
          </p:cNvPr>
          <p:cNvSpPr>
            <a:spLocks noGrp="1"/>
          </p:cNvSpPr>
          <p:nvPr/>
        </p:nvSpPr>
        <p:spPr>
          <a:xfrm>
            <a:off x="13906500" y="590550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03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7BD95B-DBDA-4F2E-9C2E-92DCCB35F3C0}"/>
              </a:ext>
            </a:extLst>
          </p:cNvPr>
          <p:cNvSpPr>
            <a:spLocks noGrp="1"/>
          </p:cNvSpPr>
          <p:nvPr/>
        </p:nvSpPr>
        <p:spPr>
          <a:xfrm>
            <a:off x="857250" y="1952625"/>
            <a:ext cx="66675" cy="2857500"/>
          </a:xfrm>
          <a:prstGeom prst="rect">
            <a:avLst/>
          </a:prstGeom>
          <a:solidFill>
            <a:srgbClr val="DC2626"/>
          </a:solidFill>
          <a:ln w="0">
            <a:noFill/>
            <a:prstDash val="solid"/>
          </a:ln>
        </p:spPr>
        <p:txBody>
          <a:bodyPr/>
          <a:lstStyle/>
          <a:p>
            <a:endParaRPr lang="en-AU" sz="16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EF763C-9E0F-4895-A13D-9F624019F84A}"/>
              </a:ext>
            </a:extLst>
          </p:cNvPr>
          <p:cNvSpPr>
            <a:spLocks noGrp="1"/>
          </p:cNvSpPr>
          <p:nvPr/>
        </p:nvSpPr>
        <p:spPr>
          <a:xfrm>
            <a:off x="1066800" y="1933575"/>
            <a:ext cx="13296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111827"/>
                </a:solidFill>
              </a:defRPr>
            </a:pPr>
            <a:r>
              <a:rPr sz="1600" b="1" i="0">
                <a:solidFill>
                  <a:srgbClr val="111827"/>
                </a:solidFill>
              </a:rPr>
              <a:t>Average Repair Order Amount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619490-6D74-4B3C-A301-C0AEDA853757}"/>
              </a:ext>
            </a:extLst>
          </p:cNvPr>
          <p:cNvSpPr>
            <a:spLocks noGrp="1"/>
          </p:cNvSpPr>
          <p:nvPr/>
        </p:nvSpPr>
        <p:spPr>
          <a:xfrm>
            <a:off x="1066800" y="2276475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0F766E"/>
                </a:solidFill>
              </a:defRPr>
            </a:pPr>
            <a:r>
              <a:rPr sz="1600" b="1" i="0">
                <a:solidFill>
                  <a:srgbClr val="0F766E"/>
                </a:solidFill>
              </a:rPr>
              <a:t>Benchmark: confirm with Finance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A58032-F900-4F67-90CA-9D255F37CCAE}"/>
              </a:ext>
            </a:extLst>
          </p:cNvPr>
          <p:cNvSpPr>
            <a:spLocks noGrp="1"/>
          </p:cNvSpPr>
          <p:nvPr/>
        </p:nvSpPr>
        <p:spPr>
          <a:xfrm>
            <a:off x="4667250" y="2276475"/>
            <a:ext cx="952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64748B"/>
                </a:solidFill>
              </a:defRPr>
            </a:pPr>
            <a:r>
              <a:rPr sz="1600" b="0" i="0">
                <a:solidFill>
                  <a:srgbClr val="64748B"/>
                </a:solidFill>
              </a:rPr>
              <a:t>Source: SAP Invoice + C4C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AB0C60-17A2-47FA-BA29-D85CF224F88C}"/>
              </a:ext>
            </a:extLst>
          </p:cNvPr>
          <p:cNvSpPr>
            <a:spLocks noGrp="1"/>
          </p:cNvSpPr>
          <p:nvPr/>
        </p:nvSpPr>
        <p:spPr>
          <a:xfrm>
            <a:off x="1066800" y="2638425"/>
            <a:ext cx="13106400" cy="9525"/>
          </a:xfrm>
          <a:prstGeom prst="rect">
            <a:avLst/>
          </a:prstGeom>
          <a:solidFill>
            <a:srgbClr val="E5E7EB"/>
          </a:solidFill>
          <a:ln w="0">
            <a:noFill/>
            <a:prstDash val="solid"/>
          </a:ln>
        </p:spPr>
        <p:txBody>
          <a:bodyPr/>
          <a:lstStyle/>
          <a:p>
            <a:endParaRPr lang="en-AU" sz="16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04887E-89E8-4FA8-A1B3-9DAA51CD0AC9}"/>
              </a:ext>
            </a:extLst>
          </p:cNvPr>
          <p:cNvSpPr>
            <a:spLocks noGrp="1"/>
          </p:cNvSpPr>
          <p:nvPr/>
        </p:nvSpPr>
        <p:spPr>
          <a:xfrm>
            <a:off x="1066800" y="277177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64748B"/>
                </a:solidFill>
              </a:defRPr>
            </a:pPr>
            <a:r>
              <a:rPr sz="1600" b="1" i="0">
                <a:solidFill>
                  <a:srgbClr val="64748B"/>
                </a:solidFill>
              </a:rPr>
              <a:t>Formula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289AA9-383C-4359-951B-D524419ED170}"/>
              </a:ext>
            </a:extLst>
          </p:cNvPr>
          <p:cNvSpPr>
            <a:spLocks noGrp="1"/>
          </p:cNvSpPr>
          <p:nvPr/>
        </p:nvSpPr>
        <p:spPr>
          <a:xfrm>
            <a:off x="2305050" y="2771775"/>
            <a:ext cx="11811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827"/>
                </a:solidFill>
              </a:defRPr>
            </a:pPr>
            <a:r>
              <a:rPr sz="1600" b="0" i="0" dirty="0">
                <a:solidFill>
                  <a:srgbClr val="111827"/>
                </a:solidFill>
              </a:rPr>
              <a:t>Total Repair Order Revenue / Number of Repair Orders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FDD071-F57B-4E46-BB24-C56A33B87AF4}"/>
              </a:ext>
            </a:extLst>
          </p:cNvPr>
          <p:cNvSpPr>
            <a:spLocks noGrp="1"/>
          </p:cNvSpPr>
          <p:nvPr/>
        </p:nvSpPr>
        <p:spPr>
          <a:xfrm>
            <a:off x="1066800" y="332422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64748B"/>
                </a:solidFill>
              </a:defRPr>
            </a:pPr>
            <a:r>
              <a:rPr sz="1600" b="1" i="0">
                <a:solidFill>
                  <a:srgbClr val="64748B"/>
                </a:solidFill>
              </a:rPr>
              <a:t>Field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B1232F-16C5-464D-A179-E5BC68F491AA}"/>
              </a:ext>
            </a:extLst>
          </p:cNvPr>
          <p:cNvSpPr>
            <a:spLocks noGrp="1"/>
          </p:cNvSpPr>
          <p:nvPr/>
        </p:nvSpPr>
        <p:spPr>
          <a:xfrm>
            <a:off x="2333625" y="3324225"/>
            <a:ext cx="1181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111827"/>
                </a:solidFill>
              </a:defRPr>
            </a:pPr>
            <a:r>
              <a:rPr sz="1600" b="0" i="0" dirty="0">
                <a:solidFill>
                  <a:srgbClr val="111827"/>
                </a:solidFill>
              </a:rPr>
              <a:t>Field in System: </a:t>
            </a:r>
            <a:r>
              <a:rPr lang="en-US" sz="1600" dirty="0">
                <a:solidFill>
                  <a:srgbClr val="111827"/>
                </a:solidFill>
              </a:rPr>
              <a:t>Total Repair Order Revenue</a:t>
            </a:r>
            <a:r>
              <a:rPr lang="en-AU" sz="1600" dirty="0">
                <a:solidFill>
                  <a:srgbClr val="111827"/>
                </a:solidFill>
              </a:rPr>
              <a:t>:</a:t>
            </a:r>
            <a:r>
              <a:rPr lang="zh-CN" altLang="en-US" sz="1600" dirty="0">
                <a:solidFill>
                  <a:srgbClr val="111827"/>
                </a:solidFill>
              </a:rPr>
              <a:t> </a:t>
            </a:r>
            <a:r>
              <a:rPr lang="en-AU" altLang="zh-CN" sz="1600" dirty="0">
                <a:solidFill>
                  <a:srgbClr val="111827"/>
                </a:solidFill>
              </a:rPr>
              <a:t>_?_</a:t>
            </a:r>
            <a:r>
              <a:rPr lang="en-US" sz="1600" dirty="0">
                <a:solidFill>
                  <a:srgbClr val="111827"/>
                </a:solidFill>
              </a:rPr>
              <a:t> Number of Repair Orders: C4C </a:t>
            </a:r>
            <a:r>
              <a:rPr lang="en-US" sz="1600" dirty="0" err="1">
                <a:solidFill>
                  <a:srgbClr val="111827"/>
                </a:solidFill>
              </a:rPr>
              <a:t>OrderID</a:t>
            </a:r>
            <a:r>
              <a:rPr lang="en-US" sz="1600" dirty="0">
                <a:solidFill>
                  <a:srgbClr val="111827"/>
                </a:solidFill>
              </a:rPr>
              <a:t> sum up</a:t>
            </a:r>
          </a:p>
          <a:p>
            <a:pPr algn="l">
              <a:defRPr sz="1275" b="0" i="0">
                <a:solidFill>
                  <a:srgbClr val="111827"/>
                </a:solidFill>
              </a:defRPr>
            </a:pPr>
            <a:endParaRPr sz="1600" b="0" i="0" dirty="0">
              <a:solidFill>
                <a:srgbClr val="111827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69992B-7358-45B8-B743-918C87CDECF3}"/>
              </a:ext>
            </a:extLst>
          </p:cNvPr>
          <p:cNvSpPr>
            <a:spLocks noGrp="1"/>
          </p:cNvSpPr>
          <p:nvPr/>
        </p:nvSpPr>
        <p:spPr>
          <a:xfrm>
            <a:off x="1066800" y="374332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64748B"/>
                </a:solidFill>
              </a:defRPr>
            </a:pPr>
            <a:r>
              <a:rPr sz="1600" b="1" i="0">
                <a:solidFill>
                  <a:srgbClr val="64748B"/>
                </a:solidFill>
              </a:rPr>
              <a:t>Next Step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9A9A026-0993-4BA1-B614-1918C2286CDD}"/>
              </a:ext>
            </a:extLst>
          </p:cNvPr>
          <p:cNvSpPr>
            <a:spLocks noGrp="1"/>
          </p:cNvSpPr>
          <p:nvPr/>
        </p:nvSpPr>
        <p:spPr>
          <a:xfrm>
            <a:off x="2333625" y="3743325"/>
            <a:ext cx="11811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827"/>
                </a:solidFill>
              </a:defRPr>
            </a:pPr>
            <a:endParaRPr sz="1600" b="0" i="0" dirty="0">
              <a:solidFill>
                <a:srgbClr val="111827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D405BA7-D0AD-4CD2-B7C2-C7CFB465BC6A}"/>
              </a:ext>
            </a:extLst>
          </p:cNvPr>
          <p:cNvSpPr>
            <a:spLocks noGrp="1"/>
          </p:cNvSpPr>
          <p:nvPr/>
        </p:nvSpPr>
        <p:spPr>
          <a:xfrm>
            <a:off x="2333625" y="4314825"/>
            <a:ext cx="7029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64748B"/>
                </a:solidFill>
              </a:defRPr>
            </a:pPr>
            <a:r>
              <a:rPr sz="1600" b="0" i="0" dirty="0">
                <a:solidFill>
                  <a:srgbClr val="64748B"/>
                </a:solidFill>
              </a:rPr>
              <a:t>Alternative: use C4C quote / invoice amount as proxy.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86FCBAB-3711-48B7-9216-1405FDCC6D93}"/>
              </a:ext>
            </a:extLst>
          </p:cNvPr>
          <p:cNvSpPr>
            <a:spLocks noGrp="1"/>
          </p:cNvSpPr>
          <p:nvPr/>
        </p:nvSpPr>
        <p:spPr>
          <a:xfrm>
            <a:off x="10287000" y="4314825"/>
            <a:ext cx="3667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64748B"/>
                </a:solidFill>
              </a:defRPr>
            </a:pPr>
            <a:r>
              <a:rPr sz="1600" b="0" i="0" dirty="0">
                <a:solidFill>
                  <a:srgbClr val="64748B"/>
                </a:solidFill>
              </a:rPr>
              <a:t>Owner:</a:t>
            </a:r>
            <a:r>
              <a:rPr lang="en-AU" sz="1600" b="0" i="0" dirty="0">
                <a:solidFill>
                  <a:srgbClr val="64748B"/>
                </a:solidFill>
              </a:rPr>
              <a:t>                                          Due Date:</a:t>
            </a:r>
            <a:endParaRPr sz="1600" b="0" i="0" dirty="0">
              <a:solidFill>
                <a:srgbClr val="64748B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939A551-9D46-4493-BC32-36A0EE6E6578}"/>
              </a:ext>
            </a:extLst>
          </p:cNvPr>
          <p:cNvSpPr>
            <a:spLocks noGrp="1"/>
          </p:cNvSpPr>
          <p:nvPr/>
        </p:nvSpPr>
        <p:spPr>
          <a:xfrm>
            <a:off x="857250" y="5048250"/>
            <a:ext cx="66675" cy="2857500"/>
          </a:xfrm>
          <a:prstGeom prst="rect">
            <a:avLst/>
          </a:prstGeom>
          <a:solidFill>
            <a:srgbClr val="DC2626"/>
          </a:solidFill>
          <a:ln w="0">
            <a:noFill/>
            <a:prstDash val="solid"/>
          </a:ln>
        </p:spPr>
        <p:txBody>
          <a:bodyPr/>
          <a:lstStyle/>
          <a:p>
            <a:endParaRPr lang="en-AU" sz="16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29B199A-C1D9-4790-BB7B-3B6CE1DAC90F}"/>
              </a:ext>
            </a:extLst>
          </p:cNvPr>
          <p:cNvSpPr>
            <a:spLocks noGrp="1"/>
          </p:cNvSpPr>
          <p:nvPr/>
        </p:nvSpPr>
        <p:spPr>
          <a:xfrm>
            <a:off x="1066800" y="5029200"/>
            <a:ext cx="13296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111827"/>
                </a:solidFill>
              </a:defRPr>
            </a:pPr>
            <a:r>
              <a:rPr sz="1600" b="1" i="0">
                <a:solidFill>
                  <a:srgbClr val="111827"/>
                </a:solidFill>
              </a:rPr>
              <a:t>Effective Labor Rate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92AA80C-D42B-4D0D-91DB-72D9F459D7C0}"/>
              </a:ext>
            </a:extLst>
          </p:cNvPr>
          <p:cNvSpPr>
            <a:spLocks noGrp="1"/>
          </p:cNvSpPr>
          <p:nvPr/>
        </p:nvSpPr>
        <p:spPr>
          <a:xfrm>
            <a:off x="1066800" y="53721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0F766E"/>
                </a:solidFill>
              </a:defRPr>
            </a:pPr>
            <a:r>
              <a:rPr sz="1600" b="1" i="0">
                <a:solidFill>
                  <a:srgbClr val="0F766E"/>
                </a:solidFill>
              </a:rPr>
              <a:t>Target: &gt;90% of posted rate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90F43E8-94B6-4C3E-8C82-C7FF3C8B9A94}"/>
              </a:ext>
            </a:extLst>
          </p:cNvPr>
          <p:cNvSpPr>
            <a:spLocks noGrp="1"/>
          </p:cNvSpPr>
          <p:nvPr/>
        </p:nvSpPr>
        <p:spPr>
          <a:xfrm>
            <a:off x="4667250" y="5372100"/>
            <a:ext cx="952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64748B"/>
                </a:solidFill>
              </a:defRPr>
            </a:pPr>
            <a:r>
              <a:rPr sz="1600" b="0" i="0">
                <a:solidFill>
                  <a:srgbClr val="64748B"/>
                </a:solidFill>
              </a:rPr>
              <a:t>Source: SAP Invoice + C4C Labour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401B927-2D44-49F5-95BC-ED6E1E8A3219}"/>
              </a:ext>
            </a:extLst>
          </p:cNvPr>
          <p:cNvSpPr>
            <a:spLocks noGrp="1"/>
          </p:cNvSpPr>
          <p:nvPr/>
        </p:nvSpPr>
        <p:spPr>
          <a:xfrm>
            <a:off x="1066800" y="5734050"/>
            <a:ext cx="13106400" cy="9525"/>
          </a:xfrm>
          <a:prstGeom prst="rect">
            <a:avLst/>
          </a:prstGeom>
          <a:solidFill>
            <a:srgbClr val="E5E7EB"/>
          </a:solidFill>
          <a:ln w="0">
            <a:noFill/>
            <a:prstDash val="solid"/>
          </a:ln>
        </p:spPr>
        <p:txBody>
          <a:bodyPr/>
          <a:lstStyle/>
          <a:p>
            <a:endParaRPr lang="en-AU" sz="16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C7EEAC2-BD29-476E-B600-5FA1258FEFA3}"/>
              </a:ext>
            </a:extLst>
          </p:cNvPr>
          <p:cNvSpPr>
            <a:spLocks noGrp="1"/>
          </p:cNvSpPr>
          <p:nvPr/>
        </p:nvSpPr>
        <p:spPr>
          <a:xfrm>
            <a:off x="1066800" y="586740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64748B"/>
                </a:solidFill>
              </a:defRPr>
            </a:pPr>
            <a:r>
              <a:rPr sz="1600" b="1" i="0">
                <a:solidFill>
                  <a:srgbClr val="64748B"/>
                </a:solidFill>
              </a:rPr>
              <a:t>Formula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C649859-C4A7-4CF5-A839-0A5E1E96DD66}"/>
              </a:ext>
            </a:extLst>
          </p:cNvPr>
          <p:cNvSpPr>
            <a:spLocks noGrp="1"/>
          </p:cNvSpPr>
          <p:nvPr/>
        </p:nvSpPr>
        <p:spPr>
          <a:xfrm>
            <a:off x="2333625" y="5867400"/>
            <a:ext cx="11811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827"/>
                </a:solidFill>
              </a:defRPr>
            </a:pPr>
            <a:r>
              <a:rPr sz="1600" b="0" i="0" dirty="0">
                <a:solidFill>
                  <a:srgbClr val="111827"/>
                </a:solidFill>
              </a:rPr>
              <a:t>Total Labor Revenue / Labor Hours Sold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3EA3DA4-7823-498B-BA59-091CFE496B49}"/>
              </a:ext>
            </a:extLst>
          </p:cNvPr>
          <p:cNvSpPr>
            <a:spLocks noGrp="1"/>
          </p:cNvSpPr>
          <p:nvPr/>
        </p:nvSpPr>
        <p:spPr>
          <a:xfrm>
            <a:off x="1066800" y="641985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64748B"/>
                </a:solidFill>
              </a:defRPr>
            </a:pPr>
            <a:r>
              <a:rPr sz="1600" b="1" i="0">
                <a:solidFill>
                  <a:srgbClr val="64748B"/>
                </a:solidFill>
              </a:rPr>
              <a:t>Field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71B7E65-E794-45C3-9206-F014C8026399}"/>
              </a:ext>
            </a:extLst>
          </p:cNvPr>
          <p:cNvSpPr>
            <a:spLocks noGrp="1"/>
          </p:cNvSpPr>
          <p:nvPr/>
        </p:nvSpPr>
        <p:spPr>
          <a:xfrm>
            <a:off x="2333625" y="6419850"/>
            <a:ext cx="1181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111827"/>
                </a:solidFill>
              </a:defRPr>
            </a:pPr>
            <a:r>
              <a:rPr sz="1600" b="0" i="0" dirty="0">
                <a:solidFill>
                  <a:srgbClr val="111827"/>
                </a:solidFill>
              </a:rPr>
              <a:t>Field in System: </a:t>
            </a:r>
            <a:r>
              <a:rPr lang="en-US" sz="1600" dirty="0">
                <a:solidFill>
                  <a:srgbClr val="111827"/>
                </a:solidFill>
              </a:rPr>
              <a:t>Total </a:t>
            </a:r>
            <a:r>
              <a:rPr lang="en-US" sz="1600" dirty="0" err="1">
                <a:solidFill>
                  <a:srgbClr val="111827"/>
                </a:solidFill>
              </a:rPr>
              <a:t>Labour</a:t>
            </a:r>
            <a:r>
              <a:rPr lang="en-US" sz="1600" dirty="0">
                <a:solidFill>
                  <a:srgbClr val="111827"/>
                </a:solidFill>
              </a:rPr>
              <a:t> Revenue: __?__Labor Hours Sold: </a:t>
            </a:r>
            <a:r>
              <a:rPr lang="en-US" sz="1600" dirty="0" err="1">
                <a:solidFill>
                  <a:srgbClr val="111827"/>
                </a:solidFill>
              </a:rPr>
              <a:t>ClaimHour</a:t>
            </a:r>
            <a:r>
              <a:rPr lang="en-US" sz="1600" dirty="0">
                <a:solidFill>
                  <a:srgbClr val="111827"/>
                </a:solidFill>
              </a:rPr>
              <a:t> from C4C(</a:t>
            </a:r>
            <a:r>
              <a:rPr lang="en-US" sz="1600" dirty="0" err="1">
                <a:solidFill>
                  <a:srgbClr val="111827"/>
                </a:solidFill>
              </a:rPr>
              <a:t>TotalHour</a:t>
            </a:r>
            <a:r>
              <a:rPr lang="en-US" sz="1600" dirty="0">
                <a:solidFill>
                  <a:srgbClr val="111827"/>
                </a:solidFill>
              </a:rPr>
              <a:t>)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002ECF1-4E66-43F9-A459-62B21151471F}"/>
              </a:ext>
            </a:extLst>
          </p:cNvPr>
          <p:cNvSpPr>
            <a:spLocks noGrp="1"/>
          </p:cNvSpPr>
          <p:nvPr/>
        </p:nvSpPr>
        <p:spPr>
          <a:xfrm>
            <a:off x="1066800" y="683895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64748B"/>
                </a:solidFill>
              </a:defRPr>
            </a:pPr>
            <a:r>
              <a:rPr sz="1600" b="1" i="0">
                <a:solidFill>
                  <a:srgbClr val="64748B"/>
                </a:solidFill>
              </a:rPr>
              <a:t>Next Step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8A14215-F6AC-49FA-B6F8-26BEBA7F9889}"/>
              </a:ext>
            </a:extLst>
          </p:cNvPr>
          <p:cNvSpPr>
            <a:spLocks noGrp="1"/>
          </p:cNvSpPr>
          <p:nvPr/>
        </p:nvSpPr>
        <p:spPr>
          <a:xfrm>
            <a:off x="2333625" y="6838950"/>
            <a:ext cx="11811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827"/>
                </a:solidFill>
              </a:defRPr>
            </a:pPr>
            <a:r>
              <a:rPr sz="1600" b="0" i="0" dirty="0">
                <a:solidFill>
                  <a:srgbClr val="111827"/>
                </a:solidFill>
              </a:rPr>
              <a:t>Confirm </a:t>
            </a:r>
            <a:r>
              <a:rPr sz="1600" b="0" i="0" dirty="0" err="1">
                <a:solidFill>
                  <a:srgbClr val="111827"/>
                </a:solidFill>
              </a:rPr>
              <a:t>labour</a:t>
            </a:r>
            <a:r>
              <a:rPr sz="1600" b="0" i="0" dirty="0">
                <a:solidFill>
                  <a:srgbClr val="111827"/>
                </a:solidFill>
              </a:rPr>
              <a:t> revenue and </a:t>
            </a:r>
            <a:r>
              <a:rPr sz="1600" b="0" i="0" dirty="0" err="1">
                <a:solidFill>
                  <a:srgbClr val="111827"/>
                </a:solidFill>
              </a:rPr>
              <a:t>labour</a:t>
            </a:r>
            <a:r>
              <a:rPr sz="1600" b="0" i="0" dirty="0">
                <a:solidFill>
                  <a:srgbClr val="111827"/>
                </a:solidFill>
              </a:rPr>
              <a:t> hours sold source.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7581B5C-2429-8F2B-36B8-5E5DE9B20CA7}"/>
              </a:ext>
            </a:extLst>
          </p:cNvPr>
          <p:cNvSpPr>
            <a:spLocks noGrp="1"/>
          </p:cNvSpPr>
          <p:nvPr/>
        </p:nvSpPr>
        <p:spPr>
          <a:xfrm>
            <a:off x="10358437" y="7196691"/>
            <a:ext cx="3667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64748B"/>
                </a:solidFill>
              </a:defRPr>
            </a:pPr>
            <a:r>
              <a:rPr sz="1600" b="0" i="0" dirty="0">
                <a:solidFill>
                  <a:srgbClr val="64748B"/>
                </a:solidFill>
              </a:rPr>
              <a:t>Owner:</a:t>
            </a:r>
            <a:r>
              <a:rPr lang="en-AU" sz="1600" b="0" i="0" dirty="0">
                <a:solidFill>
                  <a:srgbClr val="64748B"/>
                </a:solidFill>
              </a:rPr>
              <a:t>                                          Due Date:</a:t>
            </a:r>
            <a:endParaRPr sz="1600" b="0" i="0" dirty="0">
              <a:solidFill>
                <a:srgbClr val="64748B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FF1B99D-26E1-CE1B-1FFA-D7B60D585E35}"/>
              </a:ext>
            </a:extLst>
          </p:cNvPr>
          <p:cNvSpPr>
            <a:spLocks noGrp="1"/>
          </p:cNvSpPr>
          <p:nvPr/>
        </p:nvSpPr>
        <p:spPr>
          <a:xfrm>
            <a:off x="2333625" y="7286625"/>
            <a:ext cx="7029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64748B"/>
                </a:solidFill>
              </a:defRPr>
            </a:pPr>
            <a:r>
              <a:rPr sz="1600" b="0" i="0" dirty="0">
                <a:solidFill>
                  <a:srgbClr val="64748B"/>
                </a:solidFill>
              </a:rPr>
              <a:t>Alternative: use C4C quote / invoice amount as proxy.</a:t>
            </a:r>
          </a:p>
        </p:txBody>
      </p:sp>
    </p:spTree>
    <p:extLst>
      <p:ext uri="{BB962C8B-B14F-4D97-AF65-F5344CB8AC3E}">
        <p14:creationId xmlns:p14="http://schemas.microsoft.com/office/powerpoint/2010/main" val="1894155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457D40DA-0078-4E9A-B599-FA7EB843A59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7145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C55A41-0D7F-47E2-9D3E-6695062E4B56}"/>
              </a:ext>
            </a:extLst>
          </p:cNvPr>
          <p:cNvSpPr>
            <a:spLocks noGrp="1"/>
          </p:cNvSpPr>
          <p:nvPr/>
        </p:nvSpPr>
        <p:spPr>
          <a:xfrm>
            <a:off x="762000" y="4762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0F766E"/>
                </a:solidFill>
              </a:defRPr>
            </a:pPr>
            <a:r>
              <a:rPr sz="1200" b="1" i="0">
                <a:solidFill>
                  <a:srgbClr val="0F766E"/>
                </a:solidFill>
              </a:rPr>
              <a:t>FINANCIAL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4ACEB3-23EE-4551-8F4F-9F50C4984D6D}"/>
              </a:ext>
            </a:extLst>
          </p:cNvPr>
          <p:cNvSpPr>
            <a:spLocks noGrp="1"/>
          </p:cNvSpPr>
          <p:nvPr/>
        </p:nvSpPr>
        <p:spPr>
          <a:xfrm>
            <a:off x="762000" y="742950"/>
            <a:ext cx="11430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 i="0">
                <a:solidFill>
                  <a:srgbClr val="111827"/>
                </a:solidFill>
              </a:defRPr>
            </a:pPr>
            <a:r>
              <a:rPr sz="3300" b="1" i="0">
                <a:solidFill>
                  <a:srgbClr val="111827"/>
                </a:solidFill>
              </a:rPr>
              <a:t>Financial margin KPIs need labour cost mapping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BCBA62-775E-485E-9600-573C439E8564}"/>
              </a:ext>
            </a:extLst>
          </p:cNvPr>
          <p:cNvSpPr>
            <a:spLocks noGrp="1"/>
          </p:cNvSpPr>
          <p:nvPr/>
        </p:nvSpPr>
        <p:spPr>
          <a:xfrm>
            <a:off x="762000" y="1428750"/>
            <a:ext cx="137160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ED5CDE-7E92-4627-95A1-4D3D42432543}"/>
              </a:ext>
            </a:extLst>
          </p:cNvPr>
          <p:cNvSpPr>
            <a:spLocks noGrp="1"/>
          </p:cNvSpPr>
          <p:nvPr/>
        </p:nvSpPr>
        <p:spPr>
          <a:xfrm>
            <a:off x="13906500" y="590550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04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21302F-B7DF-49F7-A5EC-BDDDA7B89062}"/>
              </a:ext>
            </a:extLst>
          </p:cNvPr>
          <p:cNvSpPr>
            <a:spLocks noGrp="1"/>
          </p:cNvSpPr>
          <p:nvPr/>
        </p:nvSpPr>
        <p:spPr>
          <a:xfrm>
            <a:off x="857250" y="1952625"/>
            <a:ext cx="66675" cy="2857500"/>
          </a:xfrm>
          <a:prstGeom prst="rect">
            <a:avLst/>
          </a:prstGeom>
          <a:solidFill>
            <a:srgbClr val="DC2626"/>
          </a:solidFill>
          <a:ln w="0">
            <a:noFill/>
            <a:prstDash val="solid"/>
          </a:ln>
        </p:spPr>
        <p:txBody>
          <a:bodyPr/>
          <a:lstStyle/>
          <a:p>
            <a:endParaRPr lang="en-AU" sz="16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080891-4CE1-47AF-9CF9-E40FCA403992}"/>
              </a:ext>
            </a:extLst>
          </p:cNvPr>
          <p:cNvSpPr>
            <a:spLocks noGrp="1"/>
          </p:cNvSpPr>
          <p:nvPr/>
        </p:nvSpPr>
        <p:spPr>
          <a:xfrm>
            <a:off x="1066800" y="1933575"/>
            <a:ext cx="13296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111827"/>
                </a:solidFill>
              </a:defRPr>
            </a:pPr>
            <a:r>
              <a:rPr sz="1600" b="1" i="0">
                <a:solidFill>
                  <a:srgbClr val="111827"/>
                </a:solidFill>
              </a:rPr>
              <a:t>Gross Profit Margin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FACE9E-7304-428E-8370-7E84E41FD683}"/>
              </a:ext>
            </a:extLst>
          </p:cNvPr>
          <p:cNvSpPr>
            <a:spLocks noGrp="1"/>
          </p:cNvSpPr>
          <p:nvPr/>
        </p:nvSpPr>
        <p:spPr>
          <a:xfrm>
            <a:off x="1066800" y="2276475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0F766E"/>
                </a:solidFill>
              </a:defRPr>
            </a:pPr>
            <a:r>
              <a:rPr sz="1600" b="1" i="0">
                <a:solidFill>
                  <a:srgbClr val="0F766E"/>
                </a:solidFill>
              </a:rPr>
              <a:t>Target: 58% to 65%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2C812C-66CB-4654-BCEE-9A3132E0B521}"/>
              </a:ext>
            </a:extLst>
          </p:cNvPr>
          <p:cNvSpPr>
            <a:spLocks noGrp="1"/>
          </p:cNvSpPr>
          <p:nvPr/>
        </p:nvSpPr>
        <p:spPr>
          <a:xfrm>
            <a:off x="4667250" y="2276475"/>
            <a:ext cx="952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64748B"/>
                </a:solidFill>
              </a:defRPr>
            </a:pPr>
            <a:r>
              <a:rPr sz="1600" b="0" i="0">
                <a:solidFill>
                  <a:srgbClr val="64748B"/>
                </a:solidFill>
              </a:rPr>
              <a:t>Source: SAP Invoice + SAP PO + HR / Finance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9185E23-E6AC-43E9-A2CC-C2AEAAA97A05}"/>
              </a:ext>
            </a:extLst>
          </p:cNvPr>
          <p:cNvSpPr>
            <a:spLocks noGrp="1"/>
          </p:cNvSpPr>
          <p:nvPr/>
        </p:nvSpPr>
        <p:spPr>
          <a:xfrm>
            <a:off x="1066800" y="2638425"/>
            <a:ext cx="13106400" cy="9525"/>
          </a:xfrm>
          <a:prstGeom prst="rect">
            <a:avLst/>
          </a:prstGeom>
          <a:solidFill>
            <a:srgbClr val="E5E7EB"/>
          </a:solidFill>
          <a:ln w="0">
            <a:noFill/>
            <a:prstDash val="solid"/>
          </a:ln>
        </p:spPr>
        <p:txBody>
          <a:bodyPr/>
          <a:lstStyle/>
          <a:p>
            <a:endParaRPr lang="en-AU" sz="16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CD7808-35CF-4669-8D98-AC3E1EB84C7A}"/>
              </a:ext>
            </a:extLst>
          </p:cNvPr>
          <p:cNvSpPr>
            <a:spLocks noGrp="1"/>
          </p:cNvSpPr>
          <p:nvPr/>
        </p:nvSpPr>
        <p:spPr>
          <a:xfrm>
            <a:off x="1066800" y="277177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64748B"/>
                </a:solidFill>
              </a:defRPr>
            </a:pPr>
            <a:r>
              <a:rPr sz="1600" b="1" i="0">
                <a:solidFill>
                  <a:srgbClr val="64748B"/>
                </a:solidFill>
              </a:rPr>
              <a:t>Formula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02B2EE-82DE-4C3F-8BE0-8EC0A10A0C05}"/>
              </a:ext>
            </a:extLst>
          </p:cNvPr>
          <p:cNvSpPr>
            <a:spLocks noGrp="1"/>
          </p:cNvSpPr>
          <p:nvPr/>
        </p:nvSpPr>
        <p:spPr>
          <a:xfrm>
            <a:off x="2333625" y="2771775"/>
            <a:ext cx="11811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827"/>
                </a:solidFill>
              </a:defRPr>
            </a:pPr>
            <a:r>
              <a:rPr sz="1600" b="0" i="0">
                <a:solidFill>
                  <a:srgbClr val="111827"/>
                </a:solidFill>
              </a:rPr>
              <a:t>(Parts Revenue + Labor Revenue - Parts Cost - Labor Cost) / Revenue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437BB90-F687-4A23-B7B4-9E050A691BD0}"/>
              </a:ext>
            </a:extLst>
          </p:cNvPr>
          <p:cNvSpPr>
            <a:spLocks noGrp="1"/>
          </p:cNvSpPr>
          <p:nvPr/>
        </p:nvSpPr>
        <p:spPr>
          <a:xfrm>
            <a:off x="1066800" y="332422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64748B"/>
                </a:solidFill>
              </a:defRPr>
            </a:pPr>
            <a:r>
              <a:rPr sz="1600" b="1" i="0">
                <a:solidFill>
                  <a:srgbClr val="64748B"/>
                </a:solidFill>
              </a:rPr>
              <a:t>Field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EC809C2-6305-4B58-9B7F-E9776A96FCEB}"/>
              </a:ext>
            </a:extLst>
          </p:cNvPr>
          <p:cNvSpPr>
            <a:spLocks noGrp="1"/>
          </p:cNvSpPr>
          <p:nvPr/>
        </p:nvSpPr>
        <p:spPr>
          <a:xfrm>
            <a:off x="2333625" y="3324225"/>
            <a:ext cx="1181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827"/>
                </a:solidFill>
              </a:defRPr>
            </a:pPr>
            <a:r>
              <a:rPr sz="1600" b="0" i="0">
                <a:solidFill>
                  <a:srgbClr val="111827"/>
                </a:solidFill>
              </a:rPr>
              <a:t>Field in System: ____________________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A02A4C8-ADF3-4F19-AEDF-1FE8CB268EAE}"/>
              </a:ext>
            </a:extLst>
          </p:cNvPr>
          <p:cNvSpPr>
            <a:spLocks noGrp="1"/>
          </p:cNvSpPr>
          <p:nvPr/>
        </p:nvSpPr>
        <p:spPr>
          <a:xfrm>
            <a:off x="1066800" y="374332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64748B"/>
                </a:solidFill>
              </a:defRPr>
            </a:pPr>
            <a:r>
              <a:rPr sz="1600" b="1" i="0">
                <a:solidFill>
                  <a:srgbClr val="64748B"/>
                </a:solidFill>
              </a:rPr>
              <a:t>Next Step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DFC0981-AD43-4C2A-A51D-EB7FB5FA0A61}"/>
              </a:ext>
            </a:extLst>
          </p:cNvPr>
          <p:cNvSpPr>
            <a:spLocks noGrp="1"/>
          </p:cNvSpPr>
          <p:nvPr/>
        </p:nvSpPr>
        <p:spPr>
          <a:xfrm>
            <a:off x="2333625" y="3743325"/>
            <a:ext cx="11811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827"/>
                </a:solidFill>
              </a:defRPr>
            </a:pPr>
            <a:endParaRPr sz="1600" b="0" i="0" dirty="0">
              <a:solidFill>
                <a:srgbClr val="111827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93D8631-2610-42CA-9F5D-862257EB9EE3}"/>
              </a:ext>
            </a:extLst>
          </p:cNvPr>
          <p:cNvSpPr>
            <a:spLocks noGrp="1"/>
          </p:cNvSpPr>
          <p:nvPr/>
        </p:nvSpPr>
        <p:spPr>
          <a:xfrm>
            <a:off x="2333625" y="4314825"/>
            <a:ext cx="7029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64748B"/>
                </a:solidFill>
              </a:defRPr>
            </a:pPr>
            <a:r>
              <a:rPr sz="1600" b="0" i="0">
                <a:solidFill>
                  <a:srgbClr val="64748B"/>
                </a:solidFill>
              </a:rPr>
              <a:t>Alternative: report gross margin before full expense allocation.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B3A752C-C924-4A0B-A7E0-EC739133DD83}"/>
              </a:ext>
            </a:extLst>
          </p:cNvPr>
          <p:cNvSpPr>
            <a:spLocks noGrp="1"/>
          </p:cNvSpPr>
          <p:nvPr/>
        </p:nvSpPr>
        <p:spPr>
          <a:xfrm>
            <a:off x="857250" y="5048250"/>
            <a:ext cx="66675" cy="2857500"/>
          </a:xfrm>
          <a:prstGeom prst="rect">
            <a:avLst/>
          </a:prstGeom>
          <a:solidFill>
            <a:srgbClr val="DC2626"/>
          </a:solidFill>
          <a:ln w="0">
            <a:noFill/>
            <a:prstDash val="solid"/>
          </a:ln>
        </p:spPr>
        <p:txBody>
          <a:bodyPr/>
          <a:lstStyle/>
          <a:p>
            <a:endParaRPr lang="en-AU" sz="16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BB4502E-3BDA-4E5D-B375-A9C45B2E6DF6}"/>
              </a:ext>
            </a:extLst>
          </p:cNvPr>
          <p:cNvSpPr>
            <a:spLocks noGrp="1"/>
          </p:cNvSpPr>
          <p:nvPr/>
        </p:nvSpPr>
        <p:spPr>
          <a:xfrm>
            <a:off x="1066800" y="5029200"/>
            <a:ext cx="13296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111827"/>
                </a:solidFill>
              </a:defRPr>
            </a:pPr>
            <a:r>
              <a:rPr sz="1600" b="1" i="0">
                <a:solidFill>
                  <a:srgbClr val="111827"/>
                </a:solidFill>
              </a:rPr>
              <a:t>Service Gross %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515141D-7AC7-494C-83C4-7505472100AF}"/>
              </a:ext>
            </a:extLst>
          </p:cNvPr>
          <p:cNvSpPr>
            <a:spLocks noGrp="1"/>
          </p:cNvSpPr>
          <p:nvPr/>
        </p:nvSpPr>
        <p:spPr>
          <a:xfrm>
            <a:off x="1066800" y="53721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0F766E"/>
                </a:solidFill>
              </a:defRPr>
            </a:pPr>
            <a:r>
              <a:rPr sz="1600" b="1" i="0">
                <a:solidFill>
                  <a:srgbClr val="0F766E"/>
                </a:solidFill>
              </a:rPr>
              <a:t>Target: 65% to 75%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4237343-3BC4-4800-9F74-B5CBDD80D1FC}"/>
              </a:ext>
            </a:extLst>
          </p:cNvPr>
          <p:cNvSpPr>
            <a:spLocks noGrp="1"/>
          </p:cNvSpPr>
          <p:nvPr/>
        </p:nvSpPr>
        <p:spPr>
          <a:xfrm>
            <a:off x="4667250" y="5372100"/>
            <a:ext cx="952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64748B"/>
                </a:solidFill>
              </a:defRPr>
            </a:pPr>
            <a:r>
              <a:rPr sz="1600" b="0" i="0">
                <a:solidFill>
                  <a:srgbClr val="64748B"/>
                </a:solidFill>
              </a:rPr>
              <a:t>Source: SAP Invoice + HR / Payroll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92893DD-1991-452C-9EA3-9491531FFD9C}"/>
              </a:ext>
            </a:extLst>
          </p:cNvPr>
          <p:cNvSpPr>
            <a:spLocks noGrp="1"/>
          </p:cNvSpPr>
          <p:nvPr/>
        </p:nvSpPr>
        <p:spPr>
          <a:xfrm>
            <a:off x="1066800" y="5734050"/>
            <a:ext cx="13106400" cy="9525"/>
          </a:xfrm>
          <a:prstGeom prst="rect">
            <a:avLst/>
          </a:prstGeom>
          <a:solidFill>
            <a:srgbClr val="E5E7EB"/>
          </a:solidFill>
          <a:ln w="0">
            <a:noFill/>
            <a:prstDash val="solid"/>
          </a:ln>
        </p:spPr>
        <p:txBody>
          <a:bodyPr/>
          <a:lstStyle/>
          <a:p>
            <a:endParaRPr lang="en-AU" sz="16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87F61DB-FE0D-4513-B41A-7E9719354ECD}"/>
              </a:ext>
            </a:extLst>
          </p:cNvPr>
          <p:cNvSpPr>
            <a:spLocks noGrp="1"/>
          </p:cNvSpPr>
          <p:nvPr/>
        </p:nvSpPr>
        <p:spPr>
          <a:xfrm>
            <a:off x="1066800" y="586740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64748B"/>
                </a:solidFill>
              </a:defRPr>
            </a:pPr>
            <a:r>
              <a:rPr sz="1600" b="1" i="0">
                <a:solidFill>
                  <a:srgbClr val="64748B"/>
                </a:solidFill>
              </a:rPr>
              <a:t>Formula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AA0451F-8EBE-48EF-A49D-53226CE8AFAF}"/>
              </a:ext>
            </a:extLst>
          </p:cNvPr>
          <p:cNvSpPr>
            <a:spLocks noGrp="1"/>
          </p:cNvSpPr>
          <p:nvPr/>
        </p:nvSpPr>
        <p:spPr>
          <a:xfrm>
            <a:off x="2333625" y="5867400"/>
            <a:ext cx="11811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827"/>
                </a:solidFill>
              </a:defRPr>
            </a:pPr>
            <a:r>
              <a:rPr sz="1600" b="0" i="0">
                <a:solidFill>
                  <a:srgbClr val="111827"/>
                </a:solidFill>
              </a:rPr>
              <a:t>(Labor Sales - Direct Labor Cost) / Labor Sales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EA3DF78-FDCF-45D7-95F4-7332CCF635E0}"/>
              </a:ext>
            </a:extLst>
          </p:cNvPr>
          <p:cNvSpPr>
            <a:spLocks noGrp="1"/>
          </p:cNvSpPr>
          <p:nvPr/>
        </p:nvSpPr>
        <p:spPr>
          <a:xfrm>
            <a:off x="1066800" y="641985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64748B"/>
                </a:solidFill>
              </a:defRPr>
            </a:pPr>
            <a:r>
              <a:rPr sz="1600" b="1" i="0">
                <a:solidFill>
                  <a:srgbClr val="64748B"/>
                </a:solidFill>
              </a:rPr>
              <a:t>Field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165C9DB-20AC-4A1C-89AD-0194FECCAFD6}"/>
              </a:ext>
            </a:extLst>
          </p:cNvPr>
          <p:cNvSpPr>
            <a:spLocks noGrp="1"/>
          </p:cNvSpPr>
          <p:nvPr/>
        </p:nvSpPr>
        <p:spPr>
          <a:xfrm>
            <a:off x="2333625" y="6419850"/>
            <a:ext cx="1181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827"/>
                </a:solidFill>
              </a:defRPr>
            </a:pPr>
            <a:r>
              <a:rPr sz="1600" b="0" i="0">
                <a:solidFill>
                  <a:srgbClr val="111827"/>
                </a:solidFill>
              </a:rPr>
              <a:t>Field in System: ____________________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84DA3FC-B0FF-4CBC-91A2-3C9C574B225F}"/>
              </a:ext>
            </a:extLst>
          </p:cNvPr>
          <p:cNvSpPr>
            <a:spLocks noGrp="1"/>
          </p:cNvSpPr>
          <p:nvPr/>
        </p:nvSpPr>
        <p:spPr>
          <a:xfrm>
            <a:off x="1066800" y="683895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64748B"/>
                </a:solidFill>
              </a:defRPr>
            </a:pPr>
            <a:r>
              <a:rPr sz="1600" b="1" i="0">
                <a:solidFill>
                  <a:srgbClr val="64748B"/>
                </a:solidFill>
              </a:rPr>
              <a:t>Next Step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21DC13E-F82B-448A-95E3-BD4DE86AAA3E}"/>
              </a:ext>
            </a:extLst>
          </p:cNvPr>
          <p:cNvSpPr>
            <a:spLocks noGrp="1"/>
          </p:cNvSpPr>
          <p:nvPr/>
        </p:nvSpPr>
        <p:spPr>
          <a:xfrm>
            <a:off x="2333625" y="6838950"/>
            <a:ext cx="11811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827"/>
                </a:solidFill>
              </a:defRPr>
            </a:pPr>
            <a:r>
              <a:rPr sz="1600" b="0" i="0" dirty="0">
                <a:solidFill>
                  <a:srgbClr val="111827"/>
                </a:solidFill>
              </a:rPr>
              <a:t>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84E0B6C-8978-4656-BECC-CD43F2680DA5}"/>
              </a:ext>
            </a:extLst>
          </p:cNvPr>
          <p:cNvSpPr>
            <a:spLocks noGrp="1"/>
          </p:cNvSpPr>
          <p:nvPr/>
        </p:nvSpPr>
        <p:spPr>
          <a:xfrm>
            <a:off x="2333625" y="7410450"/>
            <a:ext cx="7029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64748B"/>
                </a:solidFill>
              </a:defRPr>
            </a:pPr>
            <a:r>
              <a:rPr sz="1600" b="0" i="0">
                <a:solidFill>
                  <a:srgbClr val="64748B"/>
                </a:solidFill>
              </a:rPr>
              <a:t>Alternative: overview-only service gross until People ID is mapped.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A572D04-B483-D586-0679-32AAF940F803}"/>
              </a:ext>
            </a:extLst>
          </p:cNvPr>
          <p:cNvSpPr>
            <a:spLocks noGrp="1"/>
          </p:cNvSpPr>
          <p:nvPr/>
        </p:nvSpPr>
        <p:spPr>
          <a:xfrm>
            <a:off x="10358437" y="4238625"/>
            <a:ext cx="3667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64748B"/>
                </a:solidFill>
              </a:defRPr>
            </a:pPr>
            <a:r>
              <a:rPr sz="1600" b="0" i="0" dirty="0">
                <a:solidFill>
                  <a:srgbClr val="64748B"/>
                </a:solidFill>
              </a:rPr>
              <a:t>Owner:</a:t>
            </a:r>
            <a:r>
              <a:rPr lang="en-AU" sz="1600" b="0" i="0" dirty="0">
                <a:solidFill>
                  <a:srgbClr val="64748B"/>
                </a:solidFill>
              </a:rPr>
              <a:t>                                         Due Date:</a:t>
            </a:r>
            <a:endParaRPr sz="1600" b="0" i="0" dirty="0">
              <a:solidFill>
                <a:srgbClr val="64748B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FFEDF5B-7BF0-AD33-97D5-5454E2CFA325}"/>
              </a:ext>
            </a:extLst>
          </p:cNvPr>
          <p:cNvSpPr>
            <a:spLocks noGrp="1"/>
          </p:cNvSpPr>
          <p:nvPr/>
        </p:nvSpPr>
        <p:spPr>
          <a:xfrm>
            <a:off x="10358436" y="7409121"/>
            <a:ext cx="3667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64748B"/>
                </a:solidFill>
              </a:defRPr>
            </a:pPr>
            <a:r>
              <a:rPr sz="1600" b="0" i="0" dirty="0">
                <a:solidFill>
                  <a:srgbClr val="64748B"/>
                </a:solidFill>
              </a:rPr>
              <a:t>Owner:</a:t>
            </a:r>
            <a:r>
              <a:rPr lang="en-AU" sz="1600" b="0" i="0" dirty="0">
                <a:solidFill>
                  <a:srgbClr val="64748B"/>
                </a:solidFill>
              </a:rPr>
              <a:t>                                          Due Date:</a:t>
            </a:r>
            <a:endParaRPr sz="1600" b="0" i="0" dirty="0">
              <a:solidFill>
                <a:srgbClr val="64748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4316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525B6F5E-F30A-4E15-A57D-912099F2163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7145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514713-49F3-440E-93AE-1FC4221456BE}"/>
              </a:ext>
            </a:extLst>
          </p:cNvPr>
          <p:cNvSpPr>
            <a:spLocks noGrp="1"/>
          </p:cNvSpPr>
          <p:nvPr/>
        </p:nvSpPr>
        <p:spPr>
          <a:xfrm>
            <a:off x="762000" y="4762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0F766E"/>
                </a:solidFill>
              </a:defRPr>
            </a:pPr>
            <a:r>
              <a:rPr sz="1200" b="1" i="0">
                <a:solidFill>
                  <a:srgbClr val="0F766E"/>
                </a:solidFill>
              </a:rPr>
              <a:t>FINANCIAL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2AF0B2-0C5E-4423-B939-E807AB2C7F2C}"/>
              </a:ext>
            </a:extLst>
          </p:cNvPr>
          <p:cNvSpPr>
            <a:spLocks noGrp="1"/>
          </p:cNvSpPr>
          <p:nvPr/>
        </p:nvSpPr>
        <p:spPr>
          <a:xfrm>
            <a:off x="762000" y="742950"/>
            <a:ext cx="11430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 i="0">
                <a:solidFill>
                  <a:srgbClr val="111827"/>
                </a:solidFill>
              </a:defRPr>
            </a:pPr>
            <a:r>
              <a:rPr sz="3300" b="1" i="0">
                <a:solidFill>
                  <a:srgbClr val="111827"/>
                </a:solidFill>
              </a:rPr>
              <a:t>Parts and absorption need cost allocation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02E80A-E8A9-4C34-B81A-9CA231C80D79}"/>
              </a:ext>
            </a:extLst>
          </p:cNvPr>
          <p:cNvSpPr>
            <a:spLocks noGrp="1"/>
          </p:cNvSpPr>
          <p:nvPr/>
        </p:nvSpPr>
        <p:spPr>
          <a:xfrm>
            <a:off x="762000" y="1428750"/>
            <a:ext cx="137160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80EAB9-6D15-4A93-BD1D-4C593EBD5652}"/>
              </a:ext>
            </a:extLst>
          </p:cNvPr>
          <p:cNvSpPr>
            <a:spLocks noGrp="1"/>
          </p:cNvSpPr>
          <p:nvPr/>
        </p:nvSpPr>
        <p:spPr>
          <a:xfrm>
            <a:off x="13906500" y="590550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05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956701-2026-4023-822B-F1E7707DF010}"/>
              </a:ext>
            </a:extLst>
          </p:cNvPr>
          <p:cNvSpPr>
            <a:spLocks noGrp="1"/>
          </p:cNvSpPr>
          <p:nvPr/>
        </p:nvSpPr>
        <p:spPr>
          <a:xfrm>
            <a:off x="857250" y="1952625"/>
            <a:ext cx="66675" cy="285750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  <p:txBody>
          <a:bodyPr/>
          <a:lstStyle/>
          <a:p>
            <a:endParaRPr lang="en-AU" sz="16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C73EFD-6168-46FD-B70F-33EF93ECA149}"/>
              </a:ext>
            </a:extLst>
          </p:cNvPr>
          <p:cNvSpPr>
            <a:spLocks noGrp="1"/>
          </p:cNvSpPr>
          <p:nvPr/>
        </p:nvSpPr>
        <p:spPr>
          <a:xfrm>
            <a:off x="1066800" y="1933575"/>
            <a:ext cx="13296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111827"/>
                </a:solidFill>
              </a:defRPr>
            </a:pPr>
            <a:r>
              <a:rPr sz="1600" b="1" i="0">
                <a:solidFill>
                  <a:srgbClr val="111827"/>
                </a:solidFill>
              </a:rPr>
              <a:t>Parts Gross %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14E4BF-23A9-4B59-BCCA-67535A4385E1}"/>
              </a:ext>
            </a:extLst>
          </p:cNvPr>
          <p:cNvSpPr>
            <a:spLocks noGrp="1"/>
          </p:cNvSpPr>
          <p:nvPr/>
        </p:nvSpPr>
        <p:spPr>
          <a:xfrm>
            <a:off x="1066800" y="2276475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0F766E"/>
                </a:solidFill>
              </a:defRPr>
            </a:pPr>
            <a:r>
              <a:rPr sz="1600" b="1" i="0">
                <a:solidFill>
                  <a:srgbClr val="0F766E"/>
                </a:solidFill>
              </a:rPr>
              <a:t>Target: 35% to 45%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747904-C1D0-4751-AF29-087A722C0E30}"/>
              </a:ext>
            </a:extLst>
          </p:cNvPr>
          <p:cNvSpPr>
            <a:spLocks noGrp="1"/>
          </p:cNvSpPr>
          <p:nvPr/>
        </p:nvSpPr>
        <p:spPr>
          <a:xfrm>
            <a:off x="4667250" y="2276475"/>
            <a:ext cx="952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64748B"/>
                </a:solidFill>
              </a:defRPr>
            </a:pPr>
            <a:r>
              <a:rPr sz="1600" b="0" i="0">
                <a:solidFill>
                  <a:srgbClr val="64748B"/>
                </a:solidFill>
              </a:rPr>
              <a:t>Source: SAP SO Invoice + SAP PO Invoice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99C376-CE13-4191-A4CC-CDEC940332A6}"/>
              </a:ext>
            </a:extLst>
          </p:cNvPr>
          <p:cNvSpPr>
            <a:spLocks noGrp="1"/>
          </p:cNvSpPr>
          <p:nvPr/>
        </p:nvSpPr>
        <p:spPr>
          <a:xfrm>
            <a:off x="1066800" y="2638425"/>
            <a:ext cx="13106400" cy="9525"/>
          </a:xfrm>
          <a:prstGeom prst="rect">
            <a:avLst/>
          </a:prstGeom>
          <a:solidFill>
            <a:srgbClr val="E5E7EB"/>
          </a:solidFill>
          <a:ln w="0">
            <a:noFill/>
            <a:prstDash val="solid"/>
          </a:ln>
        </p:spPr>
        <p:txBody>
          <a:bodyPr/>
          <a:lstStyle/>
          <a:p>
            <a:endParaRPr lang="en-AU" sz="16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CDCD6A-7AFB-49B3-9F2C-17E474A89121}"/>
              </a:ext>
            </a:extLst>
          </p:cNvPr>
          <p:cNvSpPr>
            <a:spLocks noGrp="1"/>
          </p:cNvSpPr>
          <p:nvPr/>
        </p:nvSpPr>
        <p:spPr>
          <a:xfrm>
            <a:off x="1066800" y="277177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64748B"/>
                </a:solidFill>
              </a:defRPr>
            </a:pPr>
            <a:r>
              <a:rPr sz="1600" b="1" i="0">
                <a:solidFill>
                  <a:srgbClr val="64748B"/>
                </a:solidFill>
              </a:rPr>
              <a:t>Formula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38DEEA-31F2-4338-9746-F9F4C296D756}"/>
              </a:ext>
            </a:extLst>
          </p:cNvPr>
          <p:cNvSpPr>
            <a:spLocks noGrp="1"/>
          </p:cNvSpPr>
          <p:nvPr/>
        </p:nvSpPr>
        <p:spPr>
          <a:xfrm>
            <a:off x="2333625" y="2771775"/>
            <a:ext cx="11811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827"/>
                </a:solidFill>
              </a:defRPr>
            </a:pPr>
            <a:r>
              <a:rPr sz="1600" b="0" i="0">
                <a:solidFill>
                  <a:srgbClr val="111827"/>
                </a:solidFill>
              </a:rPr>
              <a:t>(Parts Sales - Parts Cost) / Parts Sales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13AF88F-228C-4676-80D3-55562D64106D}"/>
              </a:ext>
            </a:extLst>
          </p:cNvPr>
          <p:cNvSpPr>
            <a:spLocks noGrp="1"/>
          </p:cNvSpPr>
          <p:nvPr/>
        </p:nvSpPr>
        <p:spPr>
          <a:xfrm>
            <a:off x="1066800" y="332422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64748B"/>
                </a:solidFill>
              </a:defRPr>
            </a:pPr>
            <a:r>
              <a:rPr sz="1600" b="1" i="0">
                <a:solidFill>
                  <a:srgbClr val="64748B"/>
                </a:solidFill>
              </a:rPr>
              <a:t>Field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79CDBE-CDBA-42A2-BACC-1D81087DF278}"/>
              </a:ext>
            </a:extLst>
          </p:cNvPr>
          <p:cNvSpPr>
            <a:spLocks noGrp="1"/>
          </p:cNvSpPr>
          <p:nvPr/>
        </p:nvSpPr>
        <p:spPr>
          <a:xfrm>
            <a:off x="2333625" y="3324225"/>
            <a:ext cx="1181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827"/>
                </a:solidFill>
              </a:defRPr>
            </a:pPr>
            <a:r>
              <a:rPr sz="1600" b="0" i="0">
                <a:solidFill>
                  <a:srgbClr val="111827"/>
                </a:solidFill>
              </a:rPr>
              <a:t>Field in System: ____________________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4C8B8C2-1F82-4DB4-AD7F-B75CF224E4E4}"/>
              </a:ext>
            </a:extLst>
          </p:cNvPr>
          <p:cNvSpPr>
            <a:spLocks noGrp="1"/>
          </p:cNvSpPr>
          <p:nvPr/>
        </p:nvSpPr>
        <p:spPr>
          <a:xfrm>
            <a:off x="1066800" y="374332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64748B"/>
                </a:solidFill>
              </a:defRPr>
            </a:pPr>
            <a:r>
              <a:rPr sz="1600" b="1" i="0">
                <a:solidFill>
                  <a:srgbClr val="64748B"/>
                </a:solidFill>
              </a:rPr>
              <a:t>Next Step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37DA97E-6EBD-414A-B6C1-0FD6498BC871}"/>
              </a:ext>
            </a:extLst>
          </p:cNvPr>
          <p:cNvSpPr>
            <a:spLocks noGrp="1"/>
          </p:cNvSpPr>
          <p:nvPr/>
        </p:nvSpPr>
        <p:spPr>
          <a:xfrm>
            <a:off x="2333625" y="3743325"/>
            <a:ext cx="11811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827"/>
                </a:solidFill>
              </a:defRPr>
            </a:pPr>
            <a:r>
              <a:rPr sz="1600" b="0" i="0">
                <a:solidFill>
                  <a:srgbClr val="111827"/>
                </a:solidFill>
              </a:rPr>
              <a:t>Confirm parts sales and parts cost fields.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9FB23F0-722D-48A9-9B8E-246B6AB5C1A6}"/>
              </a:ext>
            </a:extLst>
          </p:cNvPr>
          <p:cNvSpPr>
            <a:spLocks noGrp="1"/>
          </p:cNvSpPr>
          <p:nvPr/>
        </p:nvSpPr>
        <p:spPr>
          <a:xfrm>
            <a:off x="2333625" y="4314825"/>
            <a:ext cx="7029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64748B"/>
                </a:solidFill>
              </a:defRPr>
            </a:pPr>
            <a:r>
              <a:rPr sz="1600" b="0" i="0">
                <a:solidFill>
                  <a:srgbClr val="64748B"/>
                </a:solidFill>
              </a:rPr>
              <a:t>Alternative: use summary parts revenue / cost before line-level mapping.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4B5DA64-65B4-4C72-B095-29BF7AD4171F}"/>
              </a:ext>
            </a:extLst>
          </p:cNvPr>
          <p:cNvSpPr>
            <a:spLocks noGrp="1"/>
          </p:cNvSpPr>
          <p:nvPr/>
        </p:nvSpPr>
        <p:spPr>
          <a:xfrm>
            <a:off x="10287000" y="4314825"/>
            <a:ext cx="3667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64748B"/>
                </a:solidFill>
              </a:defRPr>
            </a:pPr>
            <a:r>
              <a:rPr sz="1600" b="0" i="0" dirty="0">
                <a:solidFill>
                  <a:srgbClr val="64748B"/>
                </a:solidFill>
              </a:rPr>
              <a:t>Owner</a:t>
            </a:r>
            <a:r>
              <a:rPr lang="en-AU" sz="1600" b="0" i="0" dirty="0">
                <a:solidFill>
                  <a:srgbClr val="64748B"/>
                </a:solidFill>
              </a:rPr>
              <a:t>:                 Due date</a:t>
            </a:r>
            <a:endParaRPr sz="1600" b="0" i="0" dirty="0">
              <a:solidFill>
                <a:srgbClr val="64748B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9599BF5-18CC-4272-A086-758543B7264D}"/>
              </a:ext>
            </a:extLst>
          </p:cNvPr>
          <p:cNvSpPr>
            <a:spLocks noGrp="1"/>
          </p:cNvSpPr>
          <p:nvPr/>
        </p:nvSpPr>
        <p:spPr>
          <a:xfrm>
            <a:off x="857250" y="5048250"/>
            <a:ext cx="66675" cy="285750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  <p:txBody>
          <a:bodyPr/>
          <a:lstStyle/>
          <a:p>
            <a:endParaRPr lang="en-AU" sz="16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45FCF9D-5B0F-4765-8821-AC1C05142FD7}"/>
              </a:ext>
            </a:extLst>
          </p:cNvPr>
          <p:cNvSpPr>
            <a:spLocks noGrp="1"/>
          </p:cNvSpPr>
          <p:nvPr/>
        </p:nvSpPr>
        <p:spPr>
          <a:xfrm>
            <a:off x="1066800" y="5029200"/>
            <a:ext cx="13296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111827"/>
                </a:solidFill>
              </a:defRPr>
            </a:pPr>
            <a:r>
              <a:rPr sz="1600" b="1" i="0">
                <a:solidFill>
                  <a:srgbClr val="111827"/>
                </a:solidFill>
              </a:rPr>
              <a:t>Absorption Rate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A5FB78F-6FFE-4E72-9075-274DE1A29196}"/>
              </a:ext>
            </a:extLst>
          </p:cNvPr>
          <p:cNvSpPr>
            <a:spLocks noGrp="1"/>
          </p:cNvSpPr>
          <p:nvPr/>
        </p:nvSpPr>
        <p:spPr>
          <a:xfrm>
            <a:off x="1066800" y="53721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0F766E"/>
                </a:solidFill>
              </a:defRPr>
            </a:pPr>
            <a:r>
              <a:rPr sz="1600" b="1" i="0">
                <a:solidFill>
                  <a:srgbClr val="0F766E"/>
                </a:solidFill>
              </a:rPr>
              <a:t>Target: 100% to 130%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B630CEB-9109-4E42-A93E-FFA0A7058BAD}"/>
              </a:ext>
            </a:extLst>
          </p:cNvPr>
          <p:cNvSpPr>
            <a:spLocks noGrp="1"/>
          </p:cNvSpPr>
          <p:nvPr/>
        </p:nvSpPr>
        <p:spPr>
          <a:xfrm>
            <a:off x="4667250" y="5372100"/>
            <a:ext cx="952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64748B"/>
                </a:solidFill>
              </a:defRPr>
            </a:pPr>
            <a:r>
              <a:rPr sz="1600" b="0" i="0">
                <a:solidFill>
                  <a:srgbClr val="64748B"/>
                </a:solidFill>
              </a:rPr>
              <a:t>Source: Finance P&amp;L / SAP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2C9EC8A-55D7-4730-BD3D-7E0FBD30021F}"/>
              </a:ext>
            </a:extLst>
          </p:cNvPr>
          <p:cNvSpPr>
            <a:spLocks noGrp="1"/>
          </p:cNvSpPr>
          <p:nvPr/>
        </p:nvSpPr>
        <p:spPr>
          <a:xfrm>
            <a:off x="1066800" y="5734050"/>
            <a:ext cx="13106400" cy="9525"/>
          </a:xfrm>
          <a:prstGeom prst="rect">
            <a:avLst/>
          </a:prstGeom>
          <a:solidFill>
            <a:srgbClr val="E5E7EB"/>
          </a:solidFill>
          <a:ln w="0">
            <a:noFill/>
            <a:prstDash val="solid"/>
          </a:ln>
        </p:spPr>
        <p:txBody>
          <a:bodyPr/>
          <a:lstStyle/>
          <a:p>
            <a:endParaRPr lang="en-AU" sz="16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7C2CE18-A64A-470B-A995-4A803EE7053F}"/>
              </a:ext>
            </a:extLst>
          </p:cNvPr>
          <p:cNvSpPr>
            <a:spLocks noGrp="1"/>
          </p:cNvSpPr>
          <p:nvPr/>
        </p:nvSpPr>
        <p:spPr>
          <a:xfrm>
            <a:off x="1066800" y="586740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64748B"/>
                </a:solidFill>
              </a:defRPr>
            </a:pPr>
            <a:r>
              <a:rPr sz="1600" b="1" i="0">
                <a:solidFill>
                  <a:srgbClr val="64748B"/>
                </a:solidFill>
              </a:rPr>
              <a:t>Formula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F2EBC8C-1AD7-4B45-BA19-BA68069C3F44}"/>
              </a:ext>
            </a:extLst>
          </p:cNvPr>
          <p:cNvSpPr>
            <a:spLocks noGrp="1"/>
          </p:cNvSpPr>
          <p:nvPr/>
        </p:nvSpPr>
        <p:spPr>
          <a:xfrm>
            <a:off x="2333625" y="5867400"/>
            <a:ext cx="11811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827"/>
                </a:solidFill>
              </a:defRPr>
            </a:pPr>
            <a:r>
              <a:rPr sz="1600" b="0" i="0">
                <a:solidFill>
                  <a:srgbClr val="111827"/>
                </a:solidFill>
              </a:rPr>
              <a:t>(Service Gross Profit + Parts Gross Profit) / Operating Expenses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DB16D25-F99F-4394-A42D-2AA183881707}"/>
              </a:ext>
            </a:extLst>
          </p:cNvPr>
          <p:cNvSpPr>
            <a:spLocks noGrp="1"/>
          </p:cNvSpPr>
          <p:nvPr/>
        </p:nvSpPr>
        <p:spPr>
          <a:xfrm>
            <a:off x="1066800" y="641985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64748B"/>
                </a:solidFill>
              </a:defRPr>
            </a:pPr>
            <a:r>
              <a:rPr sz="1600" b="1" i="0">
                <a:solidFill>
                  <a:srgbClr val="64748B"/>
                </a:solidFill>
              </a:rPr>
              <a:t>Field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1AE543A-A1A1-40D2-9ADB-CF9F59D349E9}"/>
              </a:ext>
            </a:extLst>
          </p:cNvPr>
          <p:cNvSpPr>
            <a:spLocks noGrp="1"/>
          </p:cNvSpPr>
          <p:nvPr/>
        </p:nvSpPr>
        <p:spPr>
          <a:xfrm>
            <a:off x="2333625" y="6419850"/>
            <a:ext cx="1181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827"/>
                </a:solidFill>
              </a:defRPr>
            </a:pPr>
            <a:r>
              <a:rPr sz="1600" b="0" i="0">
                <a:solidFill>
                  <a:srgbClr val="111827"/>
                </a:solidFill>
              </a:rPr>
              <a:t>Field in System: ____________________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A7986C2-9E43-4F22-98BB-2B42FCD96A5B}"/>
              </a:ext>
            </a:extLst>
          </p:cNvPr>
          <p:cNvSpPr>
            <a:spLocks noGrp="1"/>
          </p:cNvSpPr>
          <p:nvPr/>
        </p:nvSpPr>
        <p:spPr>
          <a:xfrm>
            <a:off x="1066800" y="683895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64748B"/>
                </a:solidFill>
              </a:defRPr>
            </a:pPr>
            <a:r>
              <a:rPr sz="1600" b="1" i="0">
                <a:solidFill>
                  <a:srgbClr val="64748B"/>
                </a:solidFill>
              </a:rPr>
              <a:t>Next Step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BC7097E-0CF7-40D4-8F03-4B51BC3E7DC4}"/>
              </a:ext>
            </a:extLst>
          </p:cNvPr>
          <p:cNvSpPr>
            <a:spLocks noGrp="1"/>
          </p:cNvSpPr>
          <p:nvPr/>
        </p:nvSpPr>
        <p:spPr>
          <a:xfrm>
            <a:off x="2333625" y="6838950"/>
            <a:ext cx="11811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827"/>
                </a:solidFill>
              </a:defRPr>
            </a:pPr>
            <a:r>
              <a:rPr sz="1600" b="0" i="0" dirty="0">
                <a:solidFill>
                  <a:srgbClr val="111827"/>
                </a:solidFill>
              </a:rPr>
              <a:t>Confirm service operating expense allocation and cost </a:t>
            </a:r>
            <a:r>
              <a:rPr sz="1600" b="0" i="0" dirty="0" err="1">
                <a:solidFill>
                  <a:srgbClr val="111827"/>
                </a:solidFill>
              </a:rPr>
              <a:t>centre</a:t>
            </a:r>
            <a:r>
              <a:rPr sz="1600" b="0" i="0" dirty="0">
                <a:solidFill>
                  <a:srgbClr val="111827"/>
                </a:solidFill>
              </a:rPr>
              <a:t> split.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D44EF20-8AA0-45EF-8AE9-B21186323530}"/>
              </a:ext>
            </a:extLst>
          </p:cNvPr>
          <p:cNvSpPr>
            <a:spLocks noGrp="1"/>
          </p:cNvSpPr>
          <p:nvPr/>
        </p:nvSpPr>
        <p:spPr>
          <a:xfrm>
            <a:off x="2333625" y="7410450"/>
            <a:ext cx="7029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64748B"/>
                </a:solidFill>
              </a:defRPr>
            </a:pPr>
            <a:r>
              <a:rPr sz="1600" b="0" i="0">
                <a:solidFill>
                  <a:srgbClr val="64748B"/>
                </a:solidFill>
              </a:rPr>
              <a:t>Alternative: track after-service gross profit against estimated cost.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9E421F3-1112-4B59-B722-37FA53DC0D27}"/>
              </a:ext>
            </a:extLst>
          </p:cNvPr>
          <p:cNvSpPr>
            <a:spLocks noGrp="1"/>
          </p:cNvSpPr>
          <p:nvPr/>
        </p:nvSpPr>
        <p:spPr>
          <a:xfrm>
            <a:off x="10287000" y="7410450"/>
            <a:ext cx="3667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64748B"/>
                </a:solidFill>
              </a:defRPr>
            </a:pPr>
            <a:r>
              <a:rPr sz="1600" b="0" i="0" dirty="0">
                <a:solidFill>
                  <a:srgbClr val="64748B"/>
                </a:solidFill>
              </a:rPr>
              <a:t>Owner:</a:t>
            </a:r>
            <a:r>
              <a:rPr lang="en-AU" sz="1600" b="0" i="0" dirty="0">
                <a:solidFill>
                  <a:srgbClr val="64748B"/>
                </a:solidFill>
              </a:rPr>
              <a:t> n           Due date</a:t>
            </a:r>
            <a:endParaRPr sz="1600" b="0" i="0" dirty="0">
              <a:solidFill>
                <a:srgbClr val="64748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2560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F8D63758-AA62-4F54-86BB-D5F0A84A154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7145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3DD6F3-A1CE-4212-A491-82CAD3CBC4EA}"/>
              </a:ext>
            </a:extLst>
          </p:cNvPr>
          <p:cNvSpPr>
            <a:spLocks noGrp="1"/>
          </p:cNvSpPr>
          <p:nvPr/>
        </p:nvSpPr>
        <p:spPr>
          <a:xfrm>
            <a:off x="762000" y="4762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0F766E"/>
                </a:solidFill>
              </a:defRPr>
            </a:pPr>
            <a:r>
              <a:rPr sz="1200" b="1" i="0">
                <a:solidFill>
                  <a:srgbClr val="0F766E"/>
                </a:solidFill>
              </a:rPr>
              <a:t>PRODUCTIVITY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8A830F-8C5D-47E9-926E-0CF87A7651FC}"/>
              </a:ext>
            </a:extLst>
          </p:cNvPr>
          <p:cNvSpPr>
            <a:spLocks noGrp="1"/>
          </p:cNvSpPr>
          <p:nvPr/>
        </p:nvSpPr>
        <p:spPr>
          <a:xfrm>
            <a:off x="762000" y="742950"/>
            <a:ext cx="11430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 i="0">
                <a:solidFill>
                  <a:srgbClr val="111827"/>
                </a:solidFill>
              </a:defRPr>
            </a:pPr>
            <a:r>
              <a:rPr sz="3300" b="1" i="0">
                <a:solidFill>
                  <a:srgbClr val="111827"/>
                </a:solidFill>
              </a:rPr>
              <a:t>Technician productivity depends on setup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E4449F-0A03-4871-9677-3895CC733F84}"/>
              </a:ext>
            </a:extLst>
          </p:cNvPr>
          <p:cNvSpPr>
            <a:spLocks noGrp="1"/>
          </p:cNvSpPr>
          <p:nvPr/>
        </p:nvSpPr>
        <p:spPr>
          <a:xfrm>
            <a:off x="762000" y="1428750"/>
            <a:ext cx="137160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520F98-9B13-45FD-BBF0-ED4B9F6B2AD8}"/>
              </a:ext>
            </a:extLst>
          </p:cNvPr>
          <p:cNvSpPr>
            <a:spLocks noGrp="1"/>
          </p:cNvSpPr>
          <p:nvPr/>
        </p:nvSpPr>
        <p:spPr>
          <a:xfrm>
            <a:off x="13906500" y="590550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06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DBC9BA-9750-4F0C-A56A-3173EFB87397}"/>
              </a:ext>
            </a:extLst>
          </p:cNvPr>
          <p:cNvSpPr>
            <a:spLocks noGrp="1"/>
          </p:cNvSpPr>
          <p:nvPr/>
        </p:nvSpPr>
        <p:spPr>
          <a:xfrm>
            <a:off x="857250" y="1952625"/>
            <a:ext cx="66675" cy="2857500"/>
          </a:xfrm>
          <a:prstGeom prst="rect">
            <a:avLst/>
          </a:prstGeom>
          <a:solidFill>
            <a:srgbClr val="DC2626"/>
          </a:solidFill>
          <a:ln w="0">
            <a:noFill/>
            <a:prstDash val="solid"/>
          </a:ln>
        </p:spPr>
        <p:txBody>
          <a:bodyPr/>
          <a:lstStyle/>
          <a:p>
            <a:endParaRPr lang="en-AU" sz="16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A1912C-1948-4110-BED3-EB4BEA302009}"/>
              </a:ext>
            </a:extLst>
          </p:cNvPr>
          <p:cNvSpPr>
            <a:spLocks noGrp="1"/>
          </p:cNvSpPr>
          <p:nvPr/>
        </p:nvSpPr>
        <p:spPr>
          <a:xfrm>
            <a:off x="1066800" y="1933575"/>
            <a:ext cx="13296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111827"/>
                </a:solidFill>
              </a:defRPr>
            </a:pPr>
            <a:r>
              <a:rPr sz="1600" b="1" i="0">
                <a:solidFill>
                  <a:srgbClr val="111827"/>
                </a:solidFill>
              </a:rPr>
              <a:t>Technician Productivity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446383-6BFA-42AE-9C55-99B97C81ADBB}"/>
              </a:ext>
            </a:extLst>
          </p:cNvPr>
          <p:cNvSpPr>
            <a:spLocks noGrp="1"/>
          </p:cNvSpPr>
          <p:nvPr/>
        </p:nvSpPr>
        <p:spPr>
          <a:xfrm>
            <a:off x="1066800" y="2276475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0F766E"/>
                </a:solidFill>
              </a:defRPr>
            </a:pPr>
            <a:r>
              <a:rPr sz="1600" b="1" i="0">
                <a:solidFill>
                  <a:srgbClr val="0F766E"/>
                </a:solidFill>
              </a:rPr>
              <a:t>Target: 110% to 130%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F50187-C85C-46E7-8289-538C8FC47E35}"/>
              </a:ext>
            </a:extLst>
          </p:cNvPr>
          <p:cNvSpPr>
            <a:spLocks noGrp="1"/>
          </p:cNvSpPr>
          <p:nvPr/>
        </p:nvSpPr>
        <p:spPr>
          <a:xfrm>
            <a:off x="4667250" y="2276475"/>
            <a:ext cx="952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64748B"/>
                </a:solidFill>
              </a:defRPr>
            </a:pPr>
            <a:r>
              <a:rPr sz="1600" b="0" i="0">
                <a:solidFill>
                  <a:srgbClr val="64748B"/>
                </a:solidFill>
              </a:rPr>
              <a:t>Source: C4C Labour + Technician roster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A8F111-2D30-4369-A66C-0059BE04513D}"/>
              </a:ext>
            </a:extLst>
          </p:cNvPr>
          <p:cNvSpPr>
            <a:spLocks noGrp="1"/>
          </p:cNvSpPr>
          <p:nvPr/>
        </p:nvSpPr>
        <p:spPr>
          <a:xfrm>
            <a:off x="1066800" y="2638425"/>
            <a:ext cx="13106400" cy="9525"/>
          </a:xfrm>
          <a:prstGeom prst="rect">
            <a:avLst/>
          </a:prstGeom>
          <a:solidFill>
            <a:srgbClr val="E5E7EB"/>
          </a:solidFill>
          <a:ln w="0">
            <a:noFill/>
            <a:prstDash val="solid"/>
          </a:ln>
        </p:spPr>
        <p:txBody>
          <a:bodyPr/>
          <a:lstStyle/>
          <a:p>
            <a:endParaRPr lang="en-AU" sz="16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A477F04-4806-4CA3-8059-6E8A91000CB0}"/>
              </a:ext>
            </a:extLst>
          </p:cNvPr>
          <p:cNvSpPr>
            <a:spLocks noGrp="1"/>
          </p:cNvSpPr>
          <p:nvPr/>
        </p:nvSpPr>
        <p:spPr>
          <a:xfrm>
            <a:off x="1066800" y="277177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64748B"/>
                </a:solidFill>
              </a:defRPr>
            </a:pPr>
            <a:r>
              <a:rPr sz="1600" b="1" i="0">
                <a:solidFill>
                  <a:srgbClr val="64748B"/>
                </a:solidFill>
              </a:rPr>
              <a:t>Formula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3D2EA35-6AA9-447F-BD05-98E891E35580}"/>
              </a:ext>
            </a:extLst>
          </p:cNvPr>
          <p:cNvSpPr>
            <a:spLocks noGrp="1"/>
          </p:cNvSpPr>
          <p:nvPr/>
        </p:nvSpPr>
        <p:spPr>
          <a:xfrm>
            <a:off x="2333625" y="2771775"/>
            <a:ext cx="11811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827"/>
                </a:solidFill>
              </a:defRPr>
            </a:pPr>
            <a:r>
              <a:rPr sz="1600" b="0" i="0" dirty="0">
                <a:solidFill>
                  <a:srgbClr val="111827"/>
                </a:solidFill>
              </a:rPr>
              <a:t>Sold / Available Hours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88CDBF-BE95-4A72-91BF-EF53AFA89190}"/>
              </a:ext>
            </a:extLst>
          </p:cNvPr>
          <p:cNvSpPr>
            <a:spLocks noGrp="1"/>
          </p:cNvSpPr>
          <p:nvPr/>
        </p:nvSpPr>
        <p:spPr>
          <a:xfrm>
            <a:off x="1066800" y="332422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64748B"/>
                </a:solidFill>
              </a:defRPr>
            </a:pPr>
            <a:r>
              <a:rPr sz="1600" b="1" i="0">
                <a:solidFill>
                  <a:srgbClr val="64748B"/>
                </a:solidFill>
              </a:rPr>
              <a:t>Field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F7629BB-8E38-4877-A897-2EE673A78A20}"/>
              </a:ext>
            </a:extLst>
          </p:cNvPr>
          <p:cNvSpPr>
            <a:spLocks noGrp="1"/>
          </p:cNvSpPr>
          <p:nvPr/>
        </p:nvSpPr>
        <p:spPr>
          <a:xfrm>
            <a:off x="2333625" y="3324225"/>
            <a:ext cx="1181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827"/>
                </a:solidFill>
              </a:defRPr>
            </a:pPr>
            <a:r>
              <a:rPr sz="1600" b="0" i="0" dirty="0">
                <a:solidFill>
                  <a:srgbClr val="111827"/>
                </a:solidFill>
              </a:rPr>
              <a:t>Field in System: </a:t>
            </a:r>
            <a:r>
              <a:rPr lang="en-AU" sz="1600" b="0" i="0" dirty="0">
                <a:solidFill>
                  <a:srgbClr val="111827"/>
                </a:solidFill>
              </a:rPr>
              <a:t> S</a:t>
            </a:r>
            <a:r>
              <a:rPr lang="en-US" altLang="zh-CN" sz="1600" b="0" i="0" dirty="0">
                <a:solidFill>
                  <a:srgbClr val="111827"/>
                </a:solidFill>
              </a:rPr>
              <a:t>old( </a:t>
            </a:r>
            <a:r>
              <a:rPr lang="en-US" altLang="zh-CN" sz="1600" b="0" i="0" dirty="0" err="1">
                <a:solidFill>
                  <a:srgbClr val="111827"/>
                </a:solidFill>
              </a:rPr>
              <a:t>ClaimHours</a:t>
            </a:r>
            <a:r>
              <a:rPr lang="en-US" altLang="zh-CN" sz="1600" b="0" i="0" dirty="0">
                <a:solidFill>
                  <a:srgbClr val="111827"/>
                </a:solidFill>
              </a:rPr>
              <a:t> from C4C), Available hours from HR </a:t>
            </a:r>
            <a:r>
              <a:rPr lang="en-US" altLang="zh-CN" sz="1600" b="0" i="0" dirty="0" err="1">
                <a:solidFill>
                  <a:srgbClr val="111827"/>
                </a:solidFill>
              </a:rPr>
              <a:t>Payslip</a:t>
            </a:r>
            <a:endParaRPr sz="1600" b="0" i="0" dirty="0">
              <a:solidFill>
                <a:srgbClr val="111827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93F0D4D-DEC7-49B6-86D2-BF7B926655C2}"/>
              </a:ext>
            </a:extLst>
          </p:cNvPr>
          <p:cNvSpPr>
            <a:spLocks noGrp="1"/>
          </p:cNvSpPr>
          <p:nvPr/>
        </p:nvSpPr>
        <p:spPr>
          <a:xfrm>
            <a:off x="1066800" y="374332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64748B"/>
                </a:solidFill>
              </a:defRPr>
            </a:pPr>
            <a:r>
              <a:rPr sz="1600" b="1" i="0">
                <a:solidFill>
                  <a:srgbClr val="64748B"/>
                </a:solidFill>
              </a:rPr>
              <a:t>Next Step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DAC4DE-67B8-4125-BD86-030CE2B22E05}"/>
              </a:ext>
            </a:extLst>
          </p:cNvPr>
          <p:cNvSpPr>
            <a:spLocks noGrp="1"/>
          </p:cNvSpPr>
          <p:nvPr/>
        </p:nvSpPr>
        <p:spPr>
          <a:xfrm>
            <a:off x="2333625" y="3743325"/>
            <a:ext cx="11811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827"/>
                </a:solidFill>
              </a:defRPr>
            </a:pPr>
            <a:r>
              <a:rPr lang="en-AU" sz="1600" b="0" i="0" dirty="0">
                <a:solidFill>
                  <a:srgbClr val="111827"/>
                </a:solidFill>
              </a:rPr>
              <a:t>Ready</a:t>
            </a:r>
            <a:endParaRPr sz="1600" b="0" i="0" dirty="0">
              <a:solidFill>
                <a:srgbClr val="111827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7FAE3FF-639B-42C1-B6CA-2099BB643EC0}"/>
              </a:ext>
            </a:extLst>
          </p:cNvPr>
          <p:cNvSpPr>
            <a:spLocks noGrp="1"/>
          </p:cNvSpPr>
          <p:nvPr/>
        </p:nvSpPr>
        <p:spPr>
          <a:xfrm>
            <a:off x="2333625" y="4314825"/>
            <a:ext cx="7029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64748B"/>
                </a:solidFill>
              </a:defRPr>
            </a:pPr>
            <a:endParaRPr sz="1600" b="0" i="0" dirty="0">
              <a:solidFill>
                <a:srgbClr val="64748B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EE90A21-2D8B-481E-B73E-15D8C74C7DA9}"/>
              </a:ext>
            </a:extLst>
          </p:cNvPr>
          <p:cNvSpPr>
            <a:spLocks noGrp="1"/>
          </p:cNvSpPr>
          <p:nvPr/>
        </p:nvSpPr>
        <p:spPr>
          <a:xfrm>
            <a:off x="10287000" y="4314825"/>
            <a:ext cx="3667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64748B"/>
                </a:solidFill>
              </a:defRPr>
            </a:pPr>
            <a:r>
              <a:rPr sz="1600" b="0" i="0" dirty="0">
                <a:solidFill>
                  <a:srgbClr val="64748B"/>
                </a:solidFill>
              </a:rPr>
              <a:t>Owner: </a:t>
            </a:r>
            <a:r>
              <a:rPr lang="en-AU" sz="1600" dirty="0">
                <a:solidFill>
                  <a:srgbClr val="64748B"/>
                </a:solidFill>
              </a:rPr>
              <a:t>Leo</a:t>
            </a:r>
            <a:endParaRPr sz="1600" b="0" i="0" dirty="0">
              <a:solidFill>
                <a:srgbClr val="64748B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5AEB75E-EC06-4E1E-A41F-6D6EC64F6A8C}"/>
              </a:ext>
            </a:extLst>
          </p:cNvPr>
          <p:cNvSpPr>
            <a:spLocks noGrp="1"/>
          </p:cNvSpPr>
          <p:nvPr/>
        </p:nvSpPr>
        <p:spPr>
          <a:xfrm>
            <a:off x="857250" y="5048250"/>
            <a:ext cx="66675" cy="2857500"/>
          </a:xfrm>
          <a:prstGeom prst="rect">
            <a:avLst/>
          </a:prstGeom>
          <a:solidFill>
            <a:srgbClr val="DC2626"/>
          </a:solidFill>
          <a:ln w="0">
            <a:noFill/>
            <a:prstDash val="solid"/>
          </a:ln>
        </p:spPr>
        <p:txBody>
          <a:bodyPr/>
          <a:lstStyle/>
          <a:p>
            <a:endParaRPr lang="en-AU" sz="16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7E7B58D-76B3-4515-BF25-312C6653B9C6}"/>
              </a:ext>
            </a:extLst>
          </p:cNvPr>
          <p:cNvSpPr>
            <a:spLocks noGrp="1"/>
          </p:cNvSpPr>
          <p:nvPr/>
        </p:nvSpPr>
        <p:spPr>
          <a:xfrm>
            <a:off x="1066800" y="5029200"/>
            <a:ext cx="13296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111827"/>
                </a:solidFill>
              </a:defRPr>
            </a:pPr>
            <a:r>
              <a:rPr sz="1600" b="1" i="0">
                <a:solidFill>
                  <a:srgbClr val="111827"/>
                </a:solidFill>
              </a:rPr>
              <a:t>Technician Efficiency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2E46E30-09CC-47CA-97BD-3EF9C0A156B0}"/>
              </a:ext>
            </a:extLst>
          </p:cNvPr>
          <p:cNvSpPr>
            <a:spLocks noGrp="1"/>
          </p:cNvSpPr>
          <p:nvPr/>
        </p:nvSpPr>
        <p:spPr>
          <a:xfrm>
            <a:off x="1066800" y="53721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0F766E"/>
                </a:solidFill>
              </a:defRPr>
            </a:pPr>
            <a:r>
              <a:rPr sz="1600" b="1" i="0">
                <a:solidFill>
                  <a:srgbClr val="0F766E"/>
                </a:solidFill>
              </a:rPr>
              <a:t>Target: &gt;110%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E549649-07B0-40D8-85C6-C94DD582A027}"/>
              </a:ext>
            </a:extLst>
          </p:cNvPr>
          <p:cNvSpPr>
            <a:spLocks noGrp="1"/>
          </p:cNvSpPr>
          <p:nvPr/>
        </p:nvSpPr>
        <p:spPr>
          <a:xfrm>
            <a:off x="4667250" y="5372100"/>
            <a:ext cx="952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64748B"/>
                </a:solidFill>
              </a:defRPr>
            </a:pPr>
            <a:r>
              <a:rPr sz="1600" b="0" i="0">
                <a:solidFill>
                  <a:srgbClr val="64748B"/>
                </a:solidFill>
              </a:rPr>
              <a:t>Source: C4C Work Orders + Labour records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FB6866D-87B5-4F9D-8EDC-07DFE002649F}"/>
              </a:ext>
            </a:extLst>
          </p:cNvPr>
          <p:cNvSpPr>
            <a:spLocks noGrp="1"/>
          </p:cNvSpPr>
          <p:nvPr/>
        </p:nvSpPr>
        <p:spPr>
          <a:xfrm>
            <a:off x="1066800" y="5734050"/>
            <a:ext cx="13106400" cy="9525"/>
          </a:xfrm>
          <a:prstGeom prst="rect">
            <a:avLst/>
          </a:prstGeom>
          <a:solidFill>
            <a:srgbClr val="E5E7EB"/>
          </a:solidFill>
          <a:ln w="0">
            <a:noFill/>
            <a:prstDash val="solid"/>
          </a:ln>
        </p:spPr>
        <p:txBody>
          <a:bodyPr/>
          <a:lstStyle/>
          <a:p>
            <a:endParaRPr lang="en-AU" sz="16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DF0FA11-C378-4C9F-A3EC-D7287FE95CA8}"/>
              </a:ext>
            </a:extLst>
          </p:cNvPr>
          <p:cNvSpPr>
            <a:spLocks noGrp="1"/>
          </p:cNvSpPr>
          <p:nvPr/>
        </p:nvSpPr>
        <p:spPr>
          <a:xfrm>
            <a:off x="1066800" y="586740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64748B"/>
                </a:solidFill>
              </a:defRPr>
            </a:pPr>
            <a:r>
              <a:rPr sz="1600" b="1" i="0">
                <a:solidFill>
                  <a:srgbClr val="64748B"/>
                </a:solidFill>
              </a:rPr>
              <a:t>Formula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C0E3EB1-7CF6-400A-97A9-94C6E58DBE89}"/>
              </a:ext>
            </a:extLst>
          </p:cNvPr>
          <p:cNvSpPr>
            <a:spLocks noGrp="1"/>
          </p:cNvSpPr>
          <p:nvPr/>
        </p:nvSpPr>
        <p:spPr>
          <a:xfrm>
            <a:off x="2333625" y="5867400"/>
            <a:ext cx="11811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827"/>
                </a:solidFill>
              </a:defRPr>
            </a:pPr>
            <a:r>
              <a:rPr sz="1600" b="0" i="0" dirty="0">
                <a:solidFill>
                  <a:srgbClr val="111827"/>
                </a:solidFill>
              </a:rPr>
              <a:t>Sold / Productive Hours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968BB31-62EF-41CF-9BF1-2ACD78389183}"/>
              </a:ext>
            </a:extLst>
          </p:cNvPr>
          <p:cNvSpPr>
            <a:spLocks noGrp="1"/>
          </p:cNvSpPr>
          <p:nvPr/>
        </p:nvSpPr>
        <p:spPr>
          <a:xfrm>
            <a:off x="1066800" y="641985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64748B"/>
                </a:solidFill>
              </a:defRPr>
            </a:pPr>
            <a:r>
              <a:rPr sz="1600" b="1" i="0">
                <a:solidFill>
                  <a:srgbClr val="64748B"/>
                </a:solidFill>
              </a:rPr>
              <a:t>Field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3F3A7DB-4C48-48AF-A381-8C999751B8EE}"/>
              </a:ext>
            </a:extLst>
          </p:cNvPr>
          <p:cNvSpPr>
            <a:spLocks noGrp="1"/>
          </p:cNvSpPr>
          <p:nvPr/>
        </p:nvSpPr>
        <p:spPr>
          <a:xfrm>
            <a:off x="2333625" y="6419850"/>
            <a:ext cx="1181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827"/>
                </a:solidFill>
              </a:defRPr>
            </a:pPr>
            <a:r>
              <a:rPr sz="1600" b="0" i="0" dirty="0">
                <a:solidFill>
                  <a:srgbClr val="111827"/>
                </a:solidFill>
              </a:rPr>
              <a:t>Field in System: </a:t>
            </a:r>
            <a:r>
              <a:rPr lang="en-AU" sz="1600" b="0" i="0" dirty="0">
                <a:solidFill>
                  <a:srgbClr val="111827"/>
                </a:solidFill>
              </a:rPr>
              <a:t>Missing Productive hours </a:t>
            </a:r>
            <a:endParaRPr sz="1600" b="0" i="0" dirty="0">
              <a:solidFill>
                <a:srgbClr val="111827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C22D96B-E00B-4AF4-8360-13DFC4B30B17}"/>
              </a:ext>
            </a:extLst>
          </p:cNvPr>
          <p:cNvSpPr>
            <a:spLocks noGrp="1"/>
          </p:cNvSpPr>
          <p:nvPr/>
        </p:nvSpPr>
        <p:spPr>
          <a:xfrm>
            <a:off x="1066800" y="683895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64748B"/>
                </a:solidFill>
              </a:defRPr>
            </a:pPr>
            <a:r>
              <a:rPr sz="1600" b="1" i="0">
                <a:solidFill>
                  <a:srgbClr val="64748B"/>
                </a:solidFill>
              </a:rPr>
              <a:t>Next Step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D6C407D-DF57-4DD0-A2D9-6CA033E41DC6}"/>
              </a:ext>
            </a:extLst>
          </p:cNvPr>
          <p:cNvSpPr>
            <a:spLocks noGrp="1"/>
          </p:cNvSpPr>
          <p:nvPr/>
        </p:nvSpPr>
        <p:spPr>
          <a:xfrm>
            <a:off x="2333625" y="6838950"/>
            <a:ext cx="11811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111827"/>
                </a:solidFill>
              </a:defRPr>
            </a:pPr>
            <a:r>
              <a:rPr lang="en-AU" sz="1600" dirty="0">
                <a:solidFill>
                  <a:srgbClr val="111827"/>
                </a:solidFill>
              </a:rPr>
              <a:t>Add a new field Productive hours to </a:t>
            </a:r>
            <a:r>
              <a:rPr sz="1600" b="0" i="0" dirty="0">
                <a:solidFill>
                  <a:srgbClr val="111827"/>
                </a:solidFill>
              </a:rPr>
              <a:t>Assign every work order to a technician and record actual work hours.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ED019A1-3516-4D8D-AB28-06D1740CE501}"/>
              </a:ext>
            </a:extLst>
          </p:cNvPr>
          <p:cNvSpPr>
            <a:spLocks noGrp="1"/>
          </p:cNvSpPr>
          <p:nvPr/>
        </p:nvSpPr>
        <p:spPr>
          <a:xfrm>
            <a:off x="2333625" y="7410450"/>
            <a:ext cx="7029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64748B"/>
                </a:solidFill>
              </a:defRPr>
            </a:pPr>
            <a:r>
              <a:rPr sz="1600" b="0" i="0" dirty="0">
                <a:solidFill>
                  <a:srgbClr val="64748B"/>
                </a:solidFill>
              </a:rPr>
              <a:t>Alternative: claim hours by location if productive hours are unstable.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E9F8C19-A3DF-48F9-8520-9ED612342CFD}"/>
              </a:ext>
            </a:extLst>
          </p:cNvPr>
          <p:cNvSpPr>
            <a:spLocks noGrp="1"/>
          </p:cNvSpPr>
          <p:nvPr/>
        </p:nvSpPr>
        <p:spPr>
          <a:xfrm>
            <a:off x="10287000" y="7410450"/>
            <a:ext cx="3667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64748B"/>
                </a:solidFill>
              </a:defRPr>
            </a:pPr>
            <a:r>
              <a:rPr sz="1600" b="0" i="0" dirty="0">
                <a:solidFill>
                  <a:srgbClr val="64748B"/>
                </a:solidFill>
              </a:rPr>
              <a:t>Owner: </a:t>
            </a:r>
            <a:r>
              <a:rPr lang="en-AU" sz="1600" b="0" i="0" dirty="0">
                <a:solidFill>
                  <a:srgbClr val="64748B"/>
                </a:solidFill>
              </a:rPr>
              <a:t>C4C               Due date</a:t>
            </a:r>
            <a:endParaRPr sz="1600" b="0" i="0" dirty="0">
              <a:solidFill>
                <a:srgbClr val="64748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1218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957E5113-6C42-4BE0-9F25-7806C4A1530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7145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0B51564-C9D3-4726-A0D9-8CA70A57064F}"/>
              </a:ext>
            </a:extLst>
          </p:cNvPr>
          <p:cNvSpPr>
            <a:spLocks noGrp="1"/>
          </p:cNvSpPr>
          <p:nvPr/>
        </p:nvSpPr>
        <p:spPr>
          <a:xfrm>
            <a:off x="762000" y="4762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0F766E"/>
                </a:solidFill>
              </a:defRPr>
            </a:pPr>
            <a:r>
              <a:rPr sz="1200" b="1" i="0">
                <a:solidFill>
                  <a:srgbClr val="0F766E"/>
                </a:solidFill>
              </a:rPr>
              <a:t>PRODUCTIVITY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9BF242-9ECA-425F-8208-EF04FD8EBCFC}"/>
              </a:ext>
            </a:extLst>
          </p:cNvPr>
          <p:cNvSpPr>
            <a:spLocks noGrp="1"/>
          </p:cNvSpPr>
          <p:nvPr/>
        </p:nvSpPr>
        <p:spPr>
          <a:xfrm>
            <a:off x="762000" y="742950"/>
            <a:ext cx="11430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 i="0">
                <a:solidFill>
                  <a:srgbClr val="111827"/>
                </a:solidFill>
              </a:defRPr>
            </a:pPr>
            <a:r>
              <a:rPr sz="3300" b="1" i="0">
                <a:solidFill>
                  <a:srgbClr val="111827"/>
                </a:solidFill>
              </a:rPr>
              <a:t>Technician utilisation needs calendar capacity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DD845D-F421-4BC2-9BDE-3270F47E9E70}"/>
              </a:ext>
            </a:extLst>
          </p:cNvPr>
          <p:cNvSpPr>
            <a:spLocks noGrp="1"/>
          </p:cNvSpPr>
          <p:nvPr/>
        </p:nvSpPr>
        <p:spPr>
          <a:xfrm>
            <a:off x="762000" y="1428750"/>
            <a:ext cx="137160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249F0D-70B0-4E11-9578-167EB3398B13}"/>
              </a:ext>
            </a:extLst>
          </p:cNvPr>
          <p:cNvSpPr>
            <a:spLocks noGrp="1"/>
          </p:cNvSpPr>
          <p:nvPr/>
        </p:nvSpPr>
        <p:spPr>
          <a:xfrm>
            <a:off x="13906500" y="590550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07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D71EC3-B42A-4B31-99FA-95646CAE3FFB}"/>
              </a:ext>
            </a:extLst>
          </p:cNvPr>
          <p:cNvSpPr>
            <a:spLocks noGrp="1"/>
          </p:cNvSpPr>
          <p:nvPr/>
        </p:nvSpPr>
        <p:spPr>
          <a:xfrm>
            <a:off x="857250" y="2333625"/>
            <a:ext cx="66675" cy="4000500"/>
          </a:xfrm>
          <a:prstGeom prst="rect">
            <a:avLst/>
          </a:prstGeom>
          <a:solidFill>
            <a:srgbClr val="DC2626"/>
          </a:solidFill>
          <a:ln w="0">
            <a:noFill/>
            <a:prstDash val="solid"/>
          </a:ln>
        </p:spPr>
        <p:txBody>
          <a:bodyPr/>
          <a:lstStyle/>
          <a:p>
            <a:endParaRPr lang="en-AU" sz="16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D031C6-229E-4637-8C53-7072AC538339}"/>
              </a:ext>
            </a:extLst>
          </p:cNvPr>
          <p:cNvSpPr>
            <a:spLocks noGrp="1"/>
          </p:cNvSpPr>
          <p:nvPr/>
        </p:nvSpPr>
        <p:spPr>
          <a:xfrm>
            <a:off x="1066800" y="2314575"/>
            <a:ext cx="13296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111827"/>
                </a:solidFill>
              </a:defRPr>
            </a:pPr>
            <a:r>
              <a:rPr sz="1600" b="1" i="0">
                <a:solidFill>
                  <a:srgbClr val="111827"/>
                </a:solidFill>
              </a:rPr>
              <a:t>Technician Utilisation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42B854-70A2-4DE8-AD1F-DE69FC5C454D}"/>
              </a:ext>
            </a:extLst>
          </p:cNvPr>
          <p:cNvSpPr>
            <a:spLocks noGrp="1"/>
          </p:cNvSpPr>
          <p:nvPr/>
        </p:nvSpPr>
        <p:spPr>
          <a:xfrm>
            <a:off x="1066800" y="2657475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0F766E"/>
                </a:solidFill>
              </a:defRPr>
            </a:pPr>
            <a:r>
              <a:rPr sz="1600" b="1" i="0">
                <a:solidFill>
                  <a:srgbClr val="0F766E"/>
                </a:solidFill>
              </a:rPr>
              <a:t>Target: &gt;90%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128215-ECA9-4033-B95C-6B49BD4E9BA9}"/>
              </a:ext>
            </a:extLst>
          </p:cNvPr>
          <p:cNvSpPr>
            <a:spLocks noGrp="1"/>
          </p:cNvSpPr>
          <p:nvPr/>
        </p:nvSpPr>
        <p:spPr>
          <a:xfrm>
            <a:off x="4667250" y="2657475"/>
            <a:ext cx="952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64748B"/>
                </a:solidFill>
              </a:defRPr>
            </a:pPr>
            <a:r>
              <a:rPr sz="1600" b="0" i="0">
                <a:solidFill>
                  <a:srgbClr val="64748B"/>
                </a:solidFill>
              </a:rPr>
              <a:t>Source: C4C Labour + Technician calendar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76052A-4A0D-48F8-ACFA-760D45960C30}"/>
              </a:ext>
            </a:extLst>
          </p:cNvPr>
          <p:cNvSpPr>
            <a:spLocks noGrp="1"/>
          </p:cNvSpPr>
          <p:nvPr/>
        </p:nvSpPr>
        <p:spPr>
          <a:xfrm>
            <a:off x="1066800" y="3019425"/>
            <a:ext cx="13106400" cy="9525"/>
          </a:xfrm>
          <a:prstGeom prst="rect">
            <a:avLst/>
          </a:prstGeom>
          <a:solidFill>
            <a:srgbClr val="E5E7EB"/>
          </a:solidFill>
          <a:ln w="0">
            <a:noFill/>
            <a:prstDash val="solid"/>
          </a:ln>
        </p:spPr>
        <p:txBody>
          <a:bodyPr/>
          <a:lstStyle/>
          <a:p>
            <a:endParaRPr lang="en-AU" sz="16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5503FA-0E7A-4D0F-A2AA-ADF1319723A4}"/>
              </a:ext>
            </a:extLst>
          </p:cNvPr>
          <p:cNvSpPr>
            <a:spLocks noGrp="1"/>
          </p:cNvSpPr>
          <p:nvPr/>
        </p:nvSpPr>
        <p:spPr>
          <a:xfrm>
            <a:off x="1066800" y="315277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64748B"/>
                </a:solidFill>
              </a:defRPr>
            </a:pPr>
            <a:r>
              <a:rPr sz="1600" b="1" i="0">
                <a:solidFill>
                  <a:srgbClr val="64748B"/>
                </a:solidFill>
              </a:rPr>
              <a:t>Formula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2C6B5A-6D2A-424D-896B-80918BB76AC4}"/>
              </a:ext>
            </a:extLst>
          </p:cNvPr>
          <p:cNvSpPr>
            <a:spLocks noGrp="1"/>
          </p:cNvSpPr>
          <p:nvPr/>
        </p:nvSpPr>
        <p:spPr>
          <a:xfrm>
            <a:off x="2333625" y="3152775"/>
            <a:ext cx="11811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827"/>
                </a:solidFill>
              </a:defRPr>
            </a:pPr>
            <a:r>
              <a:rPr sz="1600" b="0" i="0" dirty="0">
                <a:solidFill>
                  <a:srgbClr val="111827"/>
                </a:solidFill>
              </a:rPr>
              <a:t>Productive / Available Hours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C917A6-32D8-4C13-B50D-29F5DF1C8D89}"/>
              </a:ext>
            </a:extLst>
          </p:cNvPr>
          <p:cNvSpPr>
            <a:spLocks noGrp="1"/>
          </p:cNvSpPr>
          <p:nvPr/>
        </p:nvSpPr>
        <p:spPr>
          <a:xfrm>
            <a:off x="1066800" y="370522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64748B"/>
                </a:solidFill>
              </a:defRPr>
            </a:pPr>
            <a:r>
              <a:rPr sz="1600" b="1" i="0">
                <a:solidFill>
                  <a:srgbClr val="64748B"/>
                </a:solidFill>
              </a:rPr>
              <a:t>Field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67AA8A-E83C-490E-815B-86D3E56817B0}"/>
              </a:ext>
            </a:extLst>
          </p:cNvPr>
          <p:cNvSpPr>
            <a:spLocks noGrp="1"/>
          </p:cNvSpPr>
          <p:nvPr/>
        </p:nvSpPr>
        <p:spPr>
          <a:xfrm>
            <a:off x="2333625" y="3705225"/>
            <a:ext cx="1181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111827"/>
                </a:solidFill>
              </a:defRPr>
            </a:pPr>
            <a:r>
              <a:rPr sz="1600" b="0" i="0" dirty="0">
                <a:solidFill>
                  <a:srgbClr val="111827"/>
                </a:solidFill>
              </a:rPr>
              <a:t>Field in System: </a:t>
            </a:r>
            <a:r>
              <a:rPr lang="en-AU" sz="1600" b="0" i="0" dirty="0">
                <a:solidFill>
                  <a:srgbClr val="111827"/>
                </a:solidFill>
              </a:rPr>
              <a:t>Missing </a:t>
            </a:r>
            <a:r>
              <a:rPr lang="en-AU" sz="1600" dirty="0">
                <a:solidFill>
                  <a:srgbClr val="111827"/>
                </a:solidFill>
              </a:rPr>
              <a:t>Productive hours</a:t>
            </a:r>
            <a:endParaRPr sz="1600" b="0" i="0" dirty="0">
              <a:solidFill>
                <a:srgbClr val="111827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C030330-CCC6-41C9-9321-FCD422B2629A}"/>
              </a:ext>
            </a:extLst>
          </p:cNvPr>
          <p:cNvSpPr>
            <a:spLocks noGrp="1"/>
          </p:cNvSpPr>
          <p:nvPr/>
        </p:nvSpPr>
        <p:spPr>
          <a:xfrm>
            <a:off x="1066800" y="412432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64748B"/>
                </a:solidFill>
              </a:defRPr>
            </a:pPr>
            <a:r>
              <a:rPr sz="1600" b="1" i="0">
                <a:solidFill>
                  <a:srgbClr val="64748B"/>
                </a:solidFill>
              </a:rPr>
              <a:t>Next Step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4225CE-C315-4668-B2CD-DD727A49FB09}"/>
              </a:ext>
            </a:extLst>
          </p:cNvPr>
          <p:cNvSpPr>
            <a:spLocks noGrp="1"/>
          </p:cNvSpPr>
          <p:nvPr/>
        </p:nvSpPr>
        <p:spPr>
          <a:xfrm>
            <a:off x="2333625" y="4124325"/>
            <a:ext cx="11811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111827"/>
                </a:solidFill>
              </a:defRPr>
            </a:pPr>
            <a:r>
              <a:rPr lang="en-AU" sz="1600" b="0" i="0" dirty="0">
                <a:solidFill>
                  <a:srgbClr val="111827"/>
                </a:solidFill>
              </a:rPr>
              <a:t>Add a new field </a:t>
            </a:r>
            <a:r>
              <a:rPr lang="en-AU" sz="1600" dirty="0">
                <a:solidFill>
                  <a:srgbClr val="111827"/>
                </a:solidFill>
              </a:rPr>
              <a:t>Productive hours</a:t>
            </a:r>
            <a:endParaRPr sz="1600" b="0" i="0" dirty="0">
              <a:solidFill>
                <a:srgbClr val="111827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A3685C9-A66A-4D2D-9B3D-535F710BE79F}"/>
              </a:ext>
            </a:extLst>
          </p:cNvPr>
          <p:cNvSpPr>
            <a:spLocks noGrp="1"/>
          </p:cNvSpPr>
          <p:nvPr/>
        </p:nvSpPr>
        <p:spPr>
          <a:xfrm>
            <a:off x="2333625" y="5838825"/>
            <a:ext cx="7029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64748B"/>
                </a:solidFill>
              </a:defRPr>
            </a:pPr>
            <a:r>
              <a:rPr sz="1600" b="0" i="0">
                <a:solidFill>
                  <a:srgbClr val="64748B"/>
                </a:solidFill>
              </a:rPr>
              <a:t>Alternative: claimed hours / working-day capacity.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186CD2F-63C0-4DEA-9CE8-F8640D3705A0}"/>
              </a:ext>
            </a:extLst>
          </p:cNvPr>
          <p:cNvSpPr>
            <a:spLocks noGrp="1"/>
          </p:cNvSpPr>
          <p:nvPr/>
        </p:nvSpPr>
        <p:spPr>
          <a:xfrm>
            <a:off x="10287000" y="5838825"/>
            <a:ext cx="3667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64748B"/>
                </a:solidFill>
              </a:defRPr>
            </a:pPr>
            <a:r>
              <a:rPr sz="1600" b="0" i="0" dirty="0">
                <a:solidFill>
                  <a:srgbClr val="64748B"/>
                </a:solidFill>
              </a:rPr>
              <a:t>Owner: </a:t>
            </a:r>
            <a:r>
              <a:rPr lang="en-AU" sz="1600" b="0" i="0" dirty="0">
                <a:solidFill>
                  <a:srgbClr val="64748B"/>
                </a:solidFill>
              </a:rPr>
              <a:t>C4C            Due Date</a:t>
            </a:r>
            <a:endParaRPr sz="1600" b="0" i="0" dirty="0">
              <a:solidFill>
                <a:srgbClr val="64748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018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8A01D708-1F8A-47CA-8961-34C34DB2945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7145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B65E96-C64E-4BAB-BE08-0708AC4857CA}"/>
              </a:ext>
            </a:extLst>
          </p:cNvPr>
          <p:cNvSpPr>
            <a:spLocks noGrp="1"/>
          </p:cNvSpPr>
          <p:nvPr/>
        </p:nvSpPr>
        <p:spPr>
          <a:xfrm>
            <a:off x="762000" y="4762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0F766E"/>
                </a:solidFill>
              </a:defRPr>
            </a:pPr>
            <a:r>
              <a:rPr sz="1200" b="1" i="0">
                <a:solidFill>
                  <a:srgbClr val="0F766E"/>
                </a:solidFill>
              </a:rPr>
              <a:t>OPERATIONS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DF4A56-362F-4328-A32E-9CC4FA2FEF6A}"/>
              </a:ext>
            </a:extLst>
          </p:cNvPr>
          <p:cNvSpPr>
            <a:spLocks noGrp="1"/>
          </p:cNvSpPr>
          <p:nvPr/>
        </p:nvSpPr>
        <p:spPr>
          <a:xfrm>
            <a:off x="762000" y="742950"/>
            <a:ext cx="11430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 i="0">
                <a:solidFill>
                  <a:srgbClr val="111827"/>
                </a:solidFill>
              </a:defRPr>
            </a:pPr>
            <a:r>
              <a:rPr sz="3300" b="1" i="0">
                <a:solidFill>
                  <a:srgbClr val="111827"/>
                </a:solidFill>
              </a:rPr>
              <a:t>Rework KPIs need a clear ticket rule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CBCEB5-2AC2-4B15-B8CC-B3F97958D400}"/>
              </a:ext>
            </a:extLst>
          </p:cNvPr>
          <p:cNvSpPr>
            <a:spLocks noGrp="1"/>
          </p:cNvSpPr>
          <p:nvPr/>
        </p:nvSpPr>
        <p:spPr>
          <a:xfrm>
            <a:off x="762000" y="1428750"/>
            <a:ext cx="137160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en-AU" sz="16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F3B590-0269-46D5-8A05-785E5C8A5B43}"/>
              </a:ext>
            </a:extLst>
          </p:cNvPr>
          <p:cNvSpPr>
            <a:spLocks noGrp="1"/>
          </p:cNvSpPr>
          <p:nvPr/>
        </p:nvSpPr>
        <p:spPr>
          <a:xfrm>
            <a:off x="13906500" y="590550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08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6DFE10-5237-4D90-850B-48643FB7BF42}"/>
              </a:ext>
            </a:extLst>
          </p:cNvPr>
          <p:cNvSpPr>
            <a:spLocks noGrp="1"/>
          </p:cNvSpPr>
          <p:nvPr/>
        </p:nvSpPr>
        <p:spPr>
          <a:xfrm>
            <a:off x="857250" y="1952625"/>
            <a:ext cx="66675" cy="2857500"/>
          </a:xfrm>
          <a:prstGeom prst="rect">
            <a:avLst/>
          </a:prstGeom>
          <a:solidFill>
            <a:srgbClr val="DC2626"/>
          </a:solidFill>
          <a:ln w="0">
            <a:noFill/>
            <a:prstDash val="solid"/>
          </a:ln>
        </p:spPr>
        <p:txBody>
          <a:bodyPr/>
          <a:lstStyle/>
          <a:p>
            <a:endParaRPr lang="en-AU" sz="16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56D79B-E328-418F-A15F-D3CB93A59D38}"/>
              </a:ext>
            </a:extLst>
          </p:cNvPr>
          <p:cNvSpPr>
            <a:spLocks noGrp="1"/>
          </p:cNvSpPr>
          <p:nvPr/>
        </p:nvSpPr>
        <p:spPr>
          <a:xfrm>
            <a:off x="1066800" y="1933575"/>
            <a:ext cx="13296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111827"/>
                </a:solidFill>
              </a:defRPr>
            </a:pPr>
            <a:r>
              <a:rPr sz="1600" b="1" i="0">
                <a:solidFill>
                  <a:srgbClr val="111827"/>
                </a:solidFill>
              </a:rPr>
              <a:t>Comeback / Rework Rate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1E9667-0A2E-4232-BA35-59701A7A99C7}"/>
              </a:ext>
            </a:extLst>
          </p:cNvPr>
          <p:cNvSpPr>
            <a:spLocks noGrp="1"/>
          </p:cNvSpPr>
          <p:nvPr/>
        </p:nvSpPr>
        <p:spPr>
          <a:xfrm>
            <a:off x="1066800" y="2276475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0F766E"/>
                </a:solidFill>
              </a:defRPr>
            </a:pPr>
            <a:r>
              <a:rPr sz="1600" b="1" i="0">
                <a:solidFill>
                  <a:srgbClr val="0F766E"/>
                </a:solidFill>
              </a:rPr>
              <a:t>Target: &lt;5%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E21BA5-ED30-404C-B421-9F798227DDC5}"/>
              </a:ext>
            </a:extLst>
          </p:cNvPr>
          <p:cNvSpPr>
            <a:spLocks noGrp="1"/>
          </p:cNvSpPr>
          <p:nvPr/>
        </p:nvSpPr>
        <p:spPr>
          <a:xfrm>
            <a:off x="4667250" y="2276475"/>
            <a:ext cx="952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64748B"/>
                </a:solidFill>
              </a:defRPr>
            </a:pPr>
            <a:r>
              <a:rPr sz="1600" b="0" i="0">
                <a:solidFill>
                  <a:srgbClr val="64748B"/>
                </a:solidFill>
              </a:rPr>
              <a:t>Source: C4C Tickets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AA01EE-A942-4885-8FD7-DFEC8C2CA987}"/>
              </a:ext>
            </a:extLst>
          </p:cNvPr>
          <p:cNvSpPr>
            <a:spLocks noGrp="1"/>
          </p:cNvSpPr>
          <p:nvPr/>
        </p:nvSpPr>
        <p:spPr>
          <a:xfrm>
            <a:off x="1066800" y="2638425"/>
            <a:ext cx="13106400" cy="9525"/>
          </a:xfrm>
          <a:prstGeom prst="rect">
            <a:avLst/>
          </a:prstGeom>
          <a:solidFill>
            <a:srgbClr val="E5E7EB"/>
          </a:solidFill>
          <a:ln w="0">
            <a:noFill/>
            <a:prstDash val="solid"/>
          </a:ln>
        </p:spPr>
        <p:txBody>
          <a:bodyPr/>
          <a:lstStyle/>
          <a:p>
            <a:endParaRPr lang="en-AU" sz="16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F34759-BF7E-4CAB-B800-8784CCB724A7}"/>
              </a:ext>
            </a:extLst>
          </p:cNvPr>
          <p:cNvSpPr>
            <a:spLocks noGrp="1"/>
          </p:cNvSpPr>
          <p:nvPr/>
        </p:nvSpPr>
        <p:spPr>
          <a:xfrm>
            <a:off x="1066800" y="277177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64748B"/>
                </a:solidFill>
              </a:defRPr>
            </a:pPr>
            <a:r>
              <a:rPr sz="1600" b="1" i="0">
                <a:solidFill>
                  <a:srgbClr val="64748B"/>
                </a:solidFill>
              </a:rPr>
              <a:t>Formula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E05454E-8E59-4B40-9B8E-BF1D1F5C9BCC}"/>
              </a:ext>
            </a:extLst>
          </p:cNvPr>
          <p:cNvSpPr>
            <a:spLocks noGrp="1"/>
          </p:cNvSpPr>
          <p:nvPr/>
        </p:nvSpPr>
        <p:spPr>
          <a:xfrm>
            <a:off x="2333625" y="2771775"/>
            <a:ext cx="11811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827"/>
                </a:solidFill>
              </a:defRPr>
            </a:pPr>
            <a:r>
              <a:rPr sz="1600" b="0" i="0">
                <a:solidFill>
                  <a:srgbClr val="111827"/>
                </a:solidFill>
              </a:rPr>
              <a:t>Rework Tickets / Completed Repair Orders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05FB6F-346E-45C2-B8BA-194B0A3BFE33}"/>
              </a:ext>
            </a:extLst>
          </p:cNvPr>
          <p:cNvSpPr>
            <a:spLocks noGrp="1"/>
          </p:cNvSpPr>
          <p:nvPr/>
        </p:nvSpPr>
        <p:spPr>
          <a:xfrm>
            <a:off x="1066800" y="332422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64748B"/>
                </a:solidFill>
              </a:defRPr>
            </a:pPr>
            <a:r>
              <a:rPr sz="1600" b="1" i="0">
                <a:solidFill>
                  <a:srgbClr val="64748B"/>
                </a:solidFill>
              </a:rPr>
              <a:t>Field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C8EF5DC-CA47-40DC-9FB7-10FD54F1CC4F}"/>
              </a:ext>
            </a:extLst>
          </p:cNvPr>
          <p:cNvSpPr>
            <a:spLocks noGrp="1"/>
          </p:cNvSpPr>
          <p:nvPr/>
        </p:nvSpPr>
        <p:spPr>
          <a:xfrm>
            <a:off x="2333625" y="3324225"/>
            <a:ext cx="1181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827"/>
                </a:solidFill>
              </a:defRPr>
            </a:pPr>
            <a:r>
              <a:rPr sz="1600" b="0" i="0" dirty="0">
                <a:solidFill>
                  <a:srgbClr val="111827"/>
                </a:solidFill>
              </a:rPr>
              <a:t>Field in System: </a:t>
            </a:r>
            <a:r>
              <a:rPr lang="en-AU" sz="1600" b="0" i="0" dirty="0">
                <a:solidFill>
                  <a:srgbClr val="111827"/>
                </a:solidFill>
              </a:rPr>
              <a:t>Rework can tell by same chassis number and description but looking forward a mark in system</a:t>
            </a:r>
            <a:endParaRPr sz="1600" b="0" i="0" dirty="0">
              <a:solidFill>
                <a:srgbClr val="111827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DF0C334-62E9-4AAA-8B4D-C6D759DB208A}"/>
              </a:ext>
            </a:extLst>
          </p:cNvPr>
          <p:cNvSpPr>
            <a:spLocks noGrp="1"/>
          </p:cNvSpPr>
          <p:nvPr/>
        </p:nvSpPr>
        <p:spPr>
          <a:xfrm>
            <a:off x="1066800" y="374332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64748B"/>
                </a:solidFill>
              </a:defRPr>
            </a:pPr>
            <a:r>
              <a:rPr sz="1600" b="1" i="0">
                <a:solidFill>
                  <a:srgbClr val="64748B"/>
                </a:solidFill>
              </a:rPr>
              <a:t>Next Step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E998BA-D348-40BF-8696-A35112E01E82}"/>
              </a:ext>
            </a:extLst>
          </p:cNvPr>
          <p:cNvSpPr>
            <a:spLocks noGrp="1"/>
          </p:cNvSpPr>
          <p:nvPr/>
        </p:nvSpPr>
        <p:spPr>
          <a:xfrm>
            <a:off x="2333625" y="3743325"/>
            <a:ext cx="11811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827"/>
                </a:solidFill>
              </a:defRPr>
            </a:pPr>
            <a:r>
              <a:rPr lang="en-AU" sz="1600" dirty="0">
                <a:solidFill>
                  <a:srgbClr val="111827"/>
                </a:solidFill>
              </a:rPr>
              <a:t>Add a new field to mark rework</a:t>
            </a:r>
            <a:r>
              <a:rPr sz="1600" b="0" i="0" dirty="0">
                <a:solidFill>
                  <a:srgbClr val="111827"/>
                </a:solidFill>
              </a:rPr>
              <a:t>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A2604A0-F5F9-4D50-A1A0-B6F8A2C6CB0A}"/>
              </a:ext>
            </a:extLst>
          </p:cNvPr>
          <p:cNvSpPr>
            <a:spLocks noGrp="1"/>
          </p:cNvSpPr>
          <p:nvPr/>
        </p:nvSpPr>
        <p:spPr>
          <a:xfrm>
            <a:off x="2333625" y="4314825"/>
            <a:ext cx="7029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64748B"/>
                </a:solidFill>
              </a:defRPr>
            </a:pPr>
            <a:r>
              <a:rPr sz="1600" b="0" i="0">
                <a:solidFill>
                  <a:srgbClr val="64748B"/>
                </a:solidFill>
              </a:rPr>
              <a:t>Alternative: detect same vehicle / same issue repeat repairs.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5A4E0B1-2D26-41DF-8B05-5118AE34D66B}"/>
              </a:ext>
            </a:extLst>
          </p:cNvPr>
          <p:cNvSpPr>
            <a:spLocks noGrp="1"/>
          </p:cNvSpPr>
          <p:nvPr/>
        </p:nvSpPr>
        <p:spPr>
          <a:xfrm>
            <a:off x="10287000" y="4314825"/>
            <a:ext cx="3667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64748B"/>
                </a:solidFill>
              </a:defRPr>
            </a:pPr>
            <a:r>
              <a:rPr sz="1600" b="0" i="0" dirty="0">
                <a:solidFill>
                  <a:srgbClr val="64748B"/>
                </a:solidFill>
              </a:rPr>
              <a:t>Owner:</a:t>
            </a:r>
            <a:r>
              <a:rPr lang="en-AU" sz="1600" b="0" i="0" dirty="0">
                <a:solidFill>
                  <a:srgbClr val="64748B"/>
                </a:solidFill>
              </a:rPr>
              <a:t> C4C                    Due date</a:t>
            </a:r>
            <a:endParaRPr sz="1600" b="0" i="0" dirty="0">
              <a:solidFill>
                <a:srgbClr val="64748B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5102315-D1C6-4BAB-8401-D9A7369461B7}"/>
              </a:ext>
            </a:extLst>
          </p:cNvPr>
          <p:cNvSpPr>
            <a:spLocks noGrp="1"/>
          </p:cNvSpPr>
          <p:nvPr/>
        </p:nvSpPr>
        <p:spPr>
          <a:xfrm>
            <a:off x="857250" y="5048250"/>
            <a:ext cx="66675" cy="2857500"/>
          </a:xfrm>
          <a:prstGeom prst="rect">
            <a:avLst/>
          </a:prstGeom>
          <a:solidFill>
            <a:srgbClr val="DC2626"/>
          </a:solidFill>
          <a:ln w="0">
            <a:noFill/>
            <a:prstDash val="solid"/>
          </a:ln>
        </p:spPr>
        <p:txBody>
          <a:bodyPr/>
          <a:lstStyle/>
          <a:p>
            <a:endParaRPr lang="en-AU" sz="16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ABF8525-E5E6-448D-9B7A-C64AC9BDB0D1}"/>
              </a:ext>
            </a:extLst>
          </p:cNvPr>
          <p:cNvSpPr>
            <a:spLocks noGrp="1"/>
          </p:cNvSpPr>
          <p:nvPr/>
        </p:nvSpPr>
        <p:spPr>
          <a:xfrm>
            <a:off x="1066800" y="5029200"/>
            <a:ext cx="13296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111827"/>
                </a:solidFill>
              </a:defRPr>
            </a:pPr>
            <a:r>
              <a:rPr sz="1600" b="1" i="0">
                <a:solidFill>
                  <a:srgbClr val="111827"/>
                </a:solidFill>
              </a:rPr>
              <a:t>Fixed First Time Right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98BDC7B-5590-4B0B-B524-791674236032}"/>
              </a:ext>
            </a:extLst>
          </p:cNvPr>
          <p:cNvSpPr>
            <a:spLocks noGrp="1"/>
          </p:cNvSpPr>
          <p:nvPr/>
        </p:nvSpPr>
        <p:spPr>
          <a:xfrm>
            <a:off x="1066800" y="53721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0F766E"/>
                </a:solidFill>
              </a:defRPr>
            </a:pPr>
            <a:r>
              <a:rPr sz="1600" b="1" i="0">
                <a:solidFill>
                  <a:srgbClr val="0F766E"/>
                </a:solidFill>
              </a:rPr>
              <a:t>Target: &gt;95%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31139AE-2415-40B1-9069-F1779B99FE91}"/>
              </a:ext>
            </a:extLst>
          </p:cNvPr>
          <p:cNvSpPr>
            <a:spLocks noGrp="1"/>
          </p:cNvSpPr>
          <p:nvPr/>
        </p:nvSpPr>
        <p:spPr>
          <a:xfrm>
            <a:off x="4667250" y="5372100"/>
            <a:ext cx="952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64748B"/>
                </a:solidFill>
              </a:defRPr>
            </a:pPr>
            <a:r>
              <a:rPr sz="1600" b="0" i="0">
                <a:solidFill>
                  <a:srgbClr val="64748B"/>
                </a:solidFill>
              </a:rPr>
              <a:t>Source: C4C Tickets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E782439-881D-4C73-A25B-B19D4A9D1708}"/>
              </a:ext>
            </a:extLst>
          </p:cNvPr>
          <p:cNvSpPr>
            <a:spLocks noGrp="1"/>
          </p:cNvSpPr>
          <p:nvPr/>
        </p:nvSpPr>
        <p:spPr>
          <a:xfrm>
            <a:off x="1066800" y="5734050"/>
            <a:ext cx="13106400" cy="9525"/>
          </a:xfrm>
          <a:prstGeom prst="rect">
            <a:avLst/>
          </a:prstGeom>
          <a:solidFill>
            <a:srgbClr val="E5E7EB"/>
          </a:solidFill>
          <a:ln w="0">
            <a:noFill/>
            <a:prstDash val="solid"/>
          </a:ln>
        </p:spPr>
        <p:txBody>
          <a:bodyPr/>
          <a:lstStyle/>
          <a:p>
            <a:endParaRPr lang="en-AU" sz="16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FDBE17C-CB73-41E1-AC88-1BAF8BEB068B}"/>
              </a:ext>
            </a:extLst>
          </p:cNvPr>
          <p:cNvSpPr>
            <a:spLocks noGrp="1"/>
          </p:cNvSpPr>
          <p:nvPr/>
        </p:nvSpPr>
        <p:spPr>
          <a:xfrm>
            <a:off x="1066800" y="586740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64748B"/>
                </a:solidFill>
              </a:defRPr>
            </a:pPr>
            <a:r>
              <a:rPr sz="1600" b="1" i="0">
                <a:solidFill>
                  <a:srgbClr val="64748B"/>
                </a:solidFill>
              </a:rPr>
              <a:t>Formula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23C60E0-78A1-47B3-8EFF-92352B19286F}"/>
              </a:ext>
            </a:extLst>
          </p:cNvPr>
          <p:cNvSpPr>
            <a:spLocks noGrp="1"/>
          </p:cNvSpPr>
          <p:nvPr/>
        </p:nvSpPr>
        <p:spPr>
          <a:xfrm>
            <a:off x="2333625" y="5867400"/>
            <a:ext cx="11811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827"/>
                </a:solidFill>
              </a:defRPr>
            </a:pPr>
            <a:r>
              <a:rPr sz="1600" b="0" i="0">
                <a:solidFill>
                  <a:srgbClr val="111827"/>
                </a:solidFill>
              </a:rPr>
              <a:t>1 - Rework Rate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42C2D4A-B753-4084-A9E5-A9C31B041193}"/>
              </a:ext>
            </a:extLst>
          </p:cNvPr>
          <p:cNvSpPr>
            <a:spLocks noGrp="1"/>
          </p:cNvSpPr>
          <p:nvPr/>
        </p:nvSpPr>
        <p:spPr>
          <a:xfrm>
            <a:off x="1066800" y="641985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64748B"/>
                </a:solidFill>
              </a:defRPr>
            </a:pPr>
            <a:r>
              <a:rPr sz="1600" b="1" i="0">
                <a:solidFill>
                  <a:srgbClr val="64748B"/>
                </a:solidFill>
              </a:rPr>
              <a:t>Field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2BECEB8-2831-4C91-8072-9F1B2E8248E4}"/>
              </a:ext>
            </a:extLst>
          </p:cNvPr>
          <p:cNvSpPr>
            <a:spLocks noGrp="1"/>
          </p:cNvSpPr>
          <p:nvPr/>
        </p:nvSpPr>
        <p:spPr>
          <a:xfrm>
            <a:off x="2333625" y="6419850"/>
            <a:ext cx="1181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827"/>
                </a:solidFill>
              </a:defRPr>
            </a:pPr>
            <a:r>
              <a:rPr sz="1600" b="0" i="0" dirty="0">
                <a:solidFill>
                  <a:srgbClr val="111827"/>
                </a:solidFill>
              </a:rPr>
              <a:t>Field in System: </a:t>
            </a:r>
            <a:r>
              <a:rPr lang="en-AU" sz="1600" dirty="0">
                <a:solidFill>
                  <a:srgbClr val="111827"/>
                </a:solidFill>
              </a:rPr>
              <a:t>Once Rework Rate is done</a:t>
            </a:r>
            <a:endParaRPr sz="1600" b="0" i="0" dirty="0">
              <a:solidFill>
                <a:srgbClr val="111827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C293B71-BDD5-4B69-82B3-0D3538B4AC2C}"/>
              </a:ext>
            </a:extLst>
          </p:cNvPr>
          <p:cNvSpPr>
            <a:spLocks noGrp="1"/>
          </p:cNvSpPr>
          <p:nvPr/>
        </p:nvSpPr>
        <p:spPr>
          <a:xfrm>
            <a:off x="1066800" y="683895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64748B"/>
                </a:solidFill>
              </a:defRPr>
            </a:pPr>
            <a:r>
              <a:rPr sz="1600" b="1" i="0">
                <a:solidFill>
                  <a:srgbClr val="64748B"/>
                </a:solidFill>
              </a:rPr>
              <a:t>Next Step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B6CB4CD-9DEE-4342-A570-3AC35D802C93}"/>
              </a:ext>
            </a:extLst>
          </p:cNvPr>
          <p:cNvSpPr>
            <a:spLocks noGrp="1"/>
          </p:cNvSpPr>
          <p:nvPr/>
        </p:nvSpPr>
        <p:spPr>
          <a:xfrm>
            <a:off x="2333625" y="6838950"/>
            <a:ext cx="11811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827"/>
                </a:solidFill>
              </a:defRPr>
            </a:pPr>
            <a:r>
              <a:rPr sz="1600" b="0" i="0">
                <a:solidFill>
                  <a:srgbClr val="111827"/>
                </a:solidFill>
              </a:rPr>
              <a:t>Use rework tickets as the failure signal.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50C2471-A8E7-4589-9F57-15B80A1A98BB}"/>
              </a:ext>
            </a:extLst>
          </p:cNvPr>
          <p:cNvSpPr>
            <a:spLocks noGrp="1"/>
          </p:cNvSpPr>
          <p:nvPr/>
        </p:nvSpPr>
        <p:spPr>
          <a:xfrm>
            <a:off x="2333625" y="7410450"/>
            <a:ext cx="7029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64748B"/>
                </a:solidFill>
              </a:defRPr>
            </a:pPr>
            <a:r>
              <a:rPr sz="1600" b="0" i="0">
                <a:solidFill>
                  <a:srgbClr val="64748B"/>
                </a:solidFill>
              </a:rPr>
              <a:t>Alternative: same-issue repeat repair detection.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C2CA1ED-2CDC-3DB9-3501-CA90FD2CE2A2}"/>
              </a:ext>
            </a:extLst>
          </p:cNvPr>
          <p:cNvSpPr>
            <a:spLocks noGrp="1"/>
          </p:cNvSpPr>
          <p:nvPr/>
        </p:nvSpPr>
        <p:spPr>
          <a:xfrm>
            <a:off x="10287000" y="7315200"/>
            <a:ext cx="3667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64748B"/>
                </a:solidFill>
              </a:defRPr>
            </a:pPr>
            <a:r>
              <a:rPr sz="1600" b="0" i="0" dirty="0">
                <a:solidFill>
                  <a:srgbClr val="64748B"/>
                </a:solidFill>
              </a:rPr>
              <a:t>Owner:</a:t>
            </a:r>
            <a:r>
              <a:rPr lang="en-AU" sz="1600" b="0" i="0" dirty="0">
                <a:solidFill>
                  <a:srgbClr val="64748B"/>
                </a:solidFill>
              </a:rPr>
              <a:t> C4C                    Due date</a:t>
            </a:r>
            <a:endParaRPr sz="1600" b="0" i="0" dirty="0">
              <a:solidFill>
                <a:srgbClr val="64748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88064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84EB2B01-12E7-472A-9125-BE7C5A6A8E5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7145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3E4D0F-9372-4FAD-B474-EF4BD23A8774}"/>
              </a:ext>
            </a:extLst>
          </p:cNvPr>
          <p:cNvSpPr>
            <a:spLocks noGrp="1"/>
          </p:cNvSpPr>
          <p:nvPr/>
        </p:nvSpPr>
        <p:spPr>
          <a:xfrm>
            <a:off x="762000" y="4762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0F766E"/>
                </a:solidFill>
              </a:defRPr>
            </a:pPr>
            <a:r>
              <a:rPr sz="1200" b="1" i="0">
                <a:solidFill>
                  <a:srgbClr val="0F766E"/>
                </a:solidFill>
              </a:rPr>
              <a:t>OPERATIONS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2D69EA-75B3-4BB8-9AC3-3105F6B028DD}"/>
              </a:ext>
            </a:extLst>
          </p:cNvPr>
          <p:cNvSpPr>
            <a:spLocks noGrp="1"/>
          </p:cNvSpPr>
          <p:nvPr/>
        </p:nvSpPr>
        <p:spPr>
          <a:xfrm>
            <a:off x="762000" y="742950"/>
            <a:ext cx="11430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 i="0">
                <a:solidFill>
                  <a:srgbClr val="111827"/>
                </a:solidFill>
              </a:defRPr>
            </a:pPr>
            <a:r>
              <a:rPr sz="3300" b="1" i="0">
                <a:solidFill>
                  <a:srgbClr val="111827"/>
                </a:solidFill>
              </a:rPr>
              <a:t>Quote and appointment KPIs need standard dates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EA8233-5C11-4364-A072-FB9F976BC6C6}"/>
              </a:ext>
            </a:extLst>
          </p:cNvPr>
          <p:cNvSpPr>
            <a:spLocks noGrp="1"/>
          </p:cNvSpPr>
          <p:nvPr/>
        </p:nvSpPr>
        <p:spPr>
          <a:xfrm>
            <a:off x="762000" y="1428750"/>
            <a:ext cx="137160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35BAEB-3501-441E-94B8-EB614670F971}"/>
              </a:ext>
            </a:extLst>
          </p:cNvPr>
          <p:cNvSpPr>
            <a:spLocks noGrp="1"/>
          </p:cNvSpPr>
          <p:nvPr/>
        </p:nvSpPr>
        <p:spPr>
          <a:xfrm>
            <a:off x="13906500" y="590550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09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735D6B-5108-412E-8038-44BB54B38243}"/>
              </a:ext>
            </a:extLst>
          </p:cNvPr>
          <p:cNvSpPr>
            <a:spLocks noGrp="1"/>
          </p:cNvSpPr>
          <p:nvPr/>
        </p:nvSpPr>
        <p:spPr>
          <a:xfrm>
            <a:off x="857250" y="1952625"/>
            <a:ext cx="66675" cy="2857500"/>
          </a:xfrm>
          <a:prstGeom prst="rect">
            <a:avLst/>
          </a:prstGeom>
          <a:solidFill>
            <a:srgbClr val="DC2626"/>
          </a:solidFill>
          <a:ln w="0">
            <a:noFill/>
            <a:prstDash val="solid"/>
          </a:ln>
        </p:spPr>
        <p:txBody>
          <a:bodyPr/>
          <a:lstStyle/>
          <a:p>
            <a:endParaRPr lang="en-AU" sz="16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C628C0-92BF-47CB-9290-BD3955029BFA}"/>
              </a:ext>
            </a:extLst>
          </p:cNvPr>
          <p:cNvSpPr>
            <a:spLocks noGrp="1"/>
          </p:cNvSpPr>
          <p:nvPr/>
        </p:nvSpPr>
        <p:spPr>
          <a:xfrm>
            <a:off x="1066800" y="1933575"/>
            <a:ext cx="13296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111827"/>
                </a:solidFill>
              </a:defRPr>
            </a:pPr>
            <a:r>
              <a:rPr sz="1600" b="1" i="0">
                <a:solidFill>
                  <a:srgbClr val="111827"/>
                </a:solidFill>
              </a:rPr>
              <a:t>Quotation Approval Rate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1C9BD9-C249-4EE2-9F68-96AD163883F5}"/>
              </a:ext>
            </a:extLst>
          </p:cNvPr>
          <p:cNvSpPr>
            <a:spLocks noGrp="1"/>
          </p:cNvSpPr>
          <p:nvPr/>
        </p:nvSpPr>
        <p:spPr>
          <a:xfrm>
            <a:off x="1066800" y="2276475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0F766E"/>
                </a:solidFill>
              </a:defRPr>
            </a:pPr>
            <a:r>
              <a:rPr sz="1600" b="1" i="0">
                <a:solidFill>
                  <a:srgbClr val="0F766E"/>
                </a:solidFill>
              </a:rPr>
              <a:t>Target: &gt;70%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33D890-EC47-44AC-A608-0EA1996178AC}"/>
              </a:ext>
            </a:extLst>
          </p:cNvPr>
          <p:cNvSpPr>
            <a:spLocks noGrp="1"/>
          </p:cNvSpPr>
          <p:nvPr/>
        </p:nvSpPr>
        <p:spPr>
          <a:xfrm>
            <a:off x="4667250" y="2276475"/>
            <a:ext cx="952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64748B"/>
                </a:solidFill>
              </a:defRPr>
            </a:pPr>
            <a:r>
              <a:rPr sz="1600" b="0" i="0">
                <a:solidFill>
                  <a:srgbClr val="64748B"/>
                </a:solidFill>
              </a:rPr>
              <a:t>Source: C4C Quote / Repair Orders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58499E-DA03-44BE-A291-7881C3007DBC}"/>
              </a:ext>
            </a:extLst>
          </p:cNvPr>
          <p:cNvSpPr>
            <a:spLocks noGrp="1"/>
          </p:cNvSpPr>
          <p:nvPr/>
        </p:nvSpPr>
        <p:spPr>
          <a:xfrm>
            <a:off x="1066800" y="2638425"/>
            <a:ext cx="13106400" cy="9525"/>
          </a:xfrm>
          <a:prstGeom prst="rect">
            <a:avLst/>
          </a:prstGeom>
          <a:solidFill>
            <a:srgbClr val="E5E7EB"/>
          </a:solidFill>
          <a:ln w="0">
            <a:noFill/>
            <a:prstDash val="solid"/>
          </a:ln>
        </p:spPr>
        <p:txBody>
          <a:bodyPr/>
          <a:lstStyle/>
          <a:p>
            <a:endParaRPr lang="en-AU" sz="16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9A52B5-E875-431A-A441-27DB1BDFD599}"/>
              </a:ext>
            </a:extLst>
          </p:cNvPr>
          <p:cNvSpPr>
            <a:spLocks noGrp="1"/>
          </p:cNvSpPr>
          <p:nvPr/>
        </p:nvSpPr>
        <p:spPr>
          <a:xfrm>
            <a:off x="1066800" y="277177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64748B"/>
                </a:solidFill>
              </a:defRPr>
            </a:pPr>
            <a:r>
              <a:rPr sz="1600" b="1" i="0">
                <a:solidFill>
                  <a:srgbClr val="64748B"/>
                </a:solidFill>
              </a:rPr>
              <a:t>Formula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815EDA-0C24-4FFA-8767-522D356BE3D7}"/>
              </a:ext>
            </a:extLst>
          </p:cNvPr>
          <p:cNvSpPr>
            <a:spLocks noGrp="1"/>
          </p:cNvSpPr>
          <p:nvPr/>
        </p:nvSpPr>
        <p:spPr>
          <a:xfrm>
            <a:off x="2333625" y="2771775"/>
            <a:ext cx="11811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827"/>
                </a:solidFill>
              </a:defRPr>
            </a:pPr>
            <a:r>
              <a:rPr sz="1600" b="0" i="0">
                <a:solidFill>
                  <a:srgbClr val="111827"/>
                </a:solidFill>
              </a:rPr>
              <a:t>Approved Quotes / Raised Quotes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D990338-FDDF-4149-BB18-92257F717506}"/>
              </a:ext>
            </a:extLst>
          </p:cNvPr>
          <p:cNvSpPr>
            <a:spLocks noGrp="1"/>
          </p:cNvSpPr>
          <p:nvPr/>
        </p:nvSpPr>
        <p:spPr>
          <a:xfrm>
            <a:off x="1066800" y="332422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64748B"/>
                </a:solidFill>
              </a:defRPr>
            </a:pPr>
            <a:r>
              <a:rPr sz="1600" b="1" i="0">
                <a:solidFill>
                  <a:srgbClr val="64748B"/>
                </a:solidFill>
              </a:rPr>
              <a:t>Field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F85DFB-6C40-4160-B22C-4FDD4C20D5B8}"/>
              </a:ext>
            </a:extLst>
          </p:cNvPr>
          <p:cNvSpPr>
            <a:spLocks noGrp="1"/>
          </p:cNvSpPr>
          <p:nvPr/>
        </p:nvSpPr>
        <p:spPr>
          <a:xfrm>
            <a:off x="2333625" y="3324225"/>
            <a:ext cx="1181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111827"/>
                </a:solidFill>
              </a:defRPr>
            </a:pPr>
            <a:r>
              <a:rPr sz="1600" b="0" i="0" dirty="0">
                <a:solidFill>
                  <a:srgbClr val="111827"/>
                </a:solidFill>
              </a:rPr>
              <a:t>Field in System: </a:t>
            </a:r>
            <a:r>
              <a:rPr lang="en-AU" sz="1600" dirty="0">
                <a:solidFill>
                  <a:srgbClr val="111827"/>
                </a:solidFill>
              </a:rPr>
              <a:t>M</a:t>
            </a:r>
            <a:r>
              <a:rPr lang="en-AU" sz="1600" b="0" i="0" dirty="0">
                <a:solidFill>
                  <a:srgbClr val="111827"/>
                </a:solidFill>
              </a:rPr>
              <a:t>issing quote rejected, having quote </a:t>
            </a:r>
            <a:r>
              <a:rPr lang="en-AU" sz="1600" dirty="0">
                <a:solidFill>
                  <a:srgbClr val="111827"/>
                </a:solidFill>
              </a:rPr>
              <a:t>approved from C4C using </a:t>
            </a:r>
            <a:r>
              <a:rPr lang="en-AU" sz="1275" dirty="0">
                <a:solidFill>
                  <a:srgbClr val="111827"/>
                </a:solidFill>
              </a:rPr>
              <a:t>Repair Total Amount</a:t>
            </a:r>
            <a:endParaRPr sz="1600" b="0" i="0" dirty="0">
              <a:solidFill>
                <a:srgbClr val="111827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312A40-8CD2-4B4D-AC4A-229E5F3D74A8}"/>
              </a:ext>
            </a:extLst>
          </p:cNvPr>
          <p:cNvSpPr>
            <a:spLocks noGrp="1"/>
          </p:cNvSpPr>
          <p:nvPr/>
        </p:nvSpPr>
        <p:spPr>
          <a:xfrm>
            <a:off x="1066800" y="374332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64748B"/>
                </a:solidFill>
              </a:defRPr>
            </a:pPr>
            <a:r>
              <a:rPr sz="1600" b="1" i="0">
                <a:solidFill>
                  <a:srgbClr val="64748B"/>
                </a:solidFill>
              </a:rPr>
              <a:t>Next Step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4837866-9845-458F-9867-484C7633E711}"/>
              </a:ext>
            </a:extLst>
          </p:cNvPr>
          <p:cNvSpPr>
            <a:spLocks noGrp="1"/>
          </p:cNvSpPr>
          <p:nvPr/>
        </p:nvSpPr>
        <p:spPr>
          <a:xfrm>
            <a:off x="2333625" y="3743325"/>
            <a:ext cx="11811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111827"/>
                </a:solidFill>
              </a:defRPr>
            </a:pPr>
            <a:r>
              <a:rPr lang="en-AU" sz="1600" b="0" i="0" dirty="0">
                <a:solidFill>
                  <a:srgbClr val="111827"/>
                </a:solidFill>
              </a:rPr>
              <a:t>Add a new field for rejection in system instead of sharing with cancel</a:t>
            </a:r>
            <a:r>
              <a:rPr sz="1600" b="0" i="0" dirty="0">
                <a:solidFill>
                  <a:srgbClr val="111827"/>
                </a:solidFill>
              </a:rPr>
              <a:t>.</a:t>
            </a:r>
            <a:r>
              <a:rPr lang="en-AU" sz="1600" dirty="0">
                <a:solidFill>
                  <a:srgbClr val="111827"/>
                </a:solidFill>
              </a:rPr>
              <a:t> Provide </a:t>
            </a:r>
            <a:r>
              <a:rPr lang="en-AU" sz="1275" dirty="0">
                <a:solidFill>
                  <a:srgbClr val="111827"/>
                </a:solidFill>
              </a:rPr>
              <a:t>Repair Total Amount Trigger</a:t>
            </a:r>
            <a:endParaRPr sz="1600" b="0" i="0" dirty="0">
              <a:solidFill>
                <a:srgbClr val="111827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1711A1-D865-46FB-82B1-131A4CA15329}"/>
              </a:ext>
            </a:extLst>
          </p:cNvPr>
          <p:cNvSpPr>
            <a:spLocks noGrp="1"/>
          </p:cNvSpPr>
          <p:nvPr/>
        </p:nvSpPr>
        <p:spPr>
          <a:xfrm>
            <a:off x="2333625" y="4314825"/>
            <a:ext cx="7029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64748B"/>
                </a:solidFill>
              </a:defRPr>
            </a:pPr>
            <a:r>
              <a:rPr sz="1600" b="0" i="0" dirty="0">
                <a:solidFill>
                  <a:srgbClr val="64748B"/>
                </a:solidFill>
              </a:rPr>
              <a:t>Alternative: </a:t>
            </a:r>
            <a:r>
              <a:rPr lang="en-AU" sz="1600" b="0" i="0" dirty="0">
                <a:solidFill>
                  <a:srgbClr val="64748B"/>
                </a:solidFill>
              </a:rPr>
              <a:t>cancel a</a:t>
            </a:r>
            <a:r>
              <a:rPr lang="en-AU" sz="1600" dirty="0">
                <a:solidFill>
                  <a:srgbClr val="64748B"/>
                </a:solidFill>
              </a:rPr>
              <a:t>s reject</a:t>
            </a:r>
            <a:r>
              <a:rPr sz="1600" b="0" i="0" dirty="0">
                <a:solidFill>
                  <a:srgbClr val="64748B"/>
                </a:solidFill>
              </a:rPr>
              <a:t>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431E8D4-C4B5-4D3C-BBFA-83132276B52F}"/>
              </a:ext>
            </a:extLst>
          </p:cNvPr>
          <p:cNvSpPr>
            <a:spLocks noGrp="1"/>
          </p:cNvSpPr>
          <p:nvPr/>
        </p:nvSpPr>
        <p:spPr>
          <a:xfrm>
            <a:off x="10287000" y="4314825"/>
            <a:ext cx="3667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64748B"/>
                </a:solidFill>
              </a:defRPr>
            </a:pPr>
            <a:r>
              <a:rPr sz="1600" b="0" i="0" dirty="0">
                <a:solidFill>
                  <a:srgbClr val="64748B"/>
                </a:solidFill>
              </a:rPr>
              <a:t>Owner: </a:t>
            </a:r>
            <a:r>
              <a:rPr lang="en-AU" sz="1600" dirty="0">
                <a:solidFill>
                  <a:srgbClr val="64748B"/>
                </a:solidFill>
              </a:rPr>
              <a:t>C4C                    Due date</a:t>
            </a:r>
            <a:endParaRPr sz="1600" b="0" i="0" dirty="0">
              <a:solidFill>
                <a:srgbClr val="64748B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2F70A08-FC5B-41F0-B49F-E0C68A7BA4B3}"/>
              </a:ext>
            </a:extLst>
          </p:cNvPr>
          <p:cNvSpPr>
            <a:spLocks noGrp="1"/>
          </p:cNvSpPr>
          <p:nvPr/>
        </p:nvSpPr>
        <p:spPr>
          <a:xfrm>
            <a:off x="857250" y="5048250"/>
            <a:ext cx="66675" cy="2857500"/>
          </a:xfrm>
          <a:prstGeom prst="rect">
            <a:avLst/>
          </a:prstGeom>
          <a:solidFill>
            <a:srgbClr val="DC2626"/>
          </a:solidFill>
          <a:ln w="0">
            <a:noFill/>
            <a:prstDash val="solid"/>
          </a:ln>
        </p:spPr>
        <p:txBody>
          <a:bodyPr/>
          <a:lstStyle/>
          <a:p>
            <a:endParaRPr lang="en-AU" sz="16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A6667AC-C981-45C4-88F9-25C7C9176E06}"/>
              </a:ext>
            </a:extLst>
          </p:cNvPr>
          <p:cNvSpPr>
            <a:spLocks noGrp="1"/>
          </p:cNvSpPr>
          <p:nvPr/>
        </p:nvSpPr>
        <p:spPr>
          <a:xfrm>
            <a:off x="1066800" y="5029200"/>
            <a:ext cx="13296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111827"/>
                </a:solidFill>
              </a:defRPr>
            </a:pPr>
            <a:r>
              <a:rPr sz="1600" b="1" i="0">
                <a:solidFill>
                  <a:srgbClr val="111827"/>
                </a:solidFill>
              </a:rPr>
              <a:t>Service Appointment Lead Time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CCCEDC7-8DBF-47A5-ADCB-BF33D19FF567}"/>
              </a:ext>
            </a:extLst>
          </p:cNvPr>
          <p:cNvSpPr>
            <a:spLocks noGrp="1"/>
          </p:cNvSpPr>
          <p:nvPr/>
        </p:nvSpPr>
        <p:spPr>
          <a:xfrm>
            <a:off x="1066800" y="53721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0F766E"/>
                </a:solidFill>
              </a:defRPr>
            </a:pPr>
            <a:r>
              <a:rPr sz="1600" b="1" i="0">
                <a:solidFill>
                  <a:srgbClr val="0F766E"/>
                </a:solidFill>
              </a:rPr>
              <a:t>Target: 3 to 7 days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DC6B879-19BC-49EF-A74F-3108C4065AB1}"/>
              </a:ext>
            </a:extLst>
          </p:cNvPr>
          <p:cNvSpPr>
            <a:spLocks noGrp="1"/>
          </p:cNvSpPr>
          <p:nvPr/>
        </p:nvSpPr>
        <p:spPr>
          <a:xfrm>
            <a:off x="4667250" y="5372100"/>
            <a:ext cx="952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64748B"/>
                </a:solidFill>
              </a:defRPr>
            </a:pPr>
            <a:r>
              <a:rPr sz="1600" b="0" i="0">
                <a:solidFill>
                  <a:srgbClr val="64748B"/>
                </a:solidFill>
              </a:rPr>
              <a:t>Source: C4C Calendar / Tickets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8C1F405-C1AE-40D2-8ECD-4E88ACF11E03}"/>
              </a:ext>
            </a:extLst>
          </p:cNvPr>
          <p:cNvSpPr>
            <a:spLocks noGrp="1"/>
          </p:cNvSpPr>
          <p:nvPr/>
        </p:nvSpPr>
        <p:spPr>
          <a:xfrm>
            <a:off x="1066800" y="5734050"/>
            <a:ext cx="13106400" cy="9525"/>
          </a:xfrm>
          <a:prstGeom prst="rect">
            <a:avLst/>
          </a:prstGeom>
          <a:solidFill>
            <a:srgbClr val="E5E7EB"/>
          </a:solidFill>
          <a:ln w="0">
            <a:noFill/>
            <a:prstDash val="solid"/>
          </a:ln>
        </p:spPr>
        <p:txBody>
          <a:bodyPr/>
          <a:lstStyle/>
          <a:p>
            <a:endParaRPr lang="en-AU" sz="16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CAEDAD7-5590-4EDC-8744-901224041907}"/>
              </a:ext>
            </a:extLst>
          </p:cNvPr>
          <p:cNvSpPr>
            <a:spLocks noGrp="1"/>
          </p:cNvSpPr>
          <p:nvPr/>
        </p:nvSpPr>
        <p:spPr>
          <a:xfrm>
            <a:off x="1066800" y="586740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64748B"/>
                </a:solidFill>
              </a:defRPr>
            </a:pPr>
            <a:r>
              <a:rPr sz="1600" b="1" i="0">
                <a:solidFill>
                  <a:srgbClr val="64748B"/>
                </a:solidFill>
              </a:rPr>
              <a:t>Formula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829CFAF-141E-4BAB-9F84-B902DE24CFE1}"/>
              </a:ext>
            </a:extLst>
          </p:cNvPr>
          <p:cNvSpPr>
            <a:spLocks noGrp="1"/>
          </p:cNvSpPr>
          <p:nvPr/>
        </p:nvSpPr>
        <p:spPr>
          <a:xfrm>
            <a:off x="2333625" y="5867400"/>
            <a:ext cx="11811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827"/>
                </a:solidFill>
              </a:defRPr>
            </a:pPr>
            <a:r>
              <a:rPr sz="1600" b="0" i="0">
                <a:solidFill>
                  <a:srgbClr val="111827"/>
                </a:solidFill>
              </a:rPr>
              <a:t>Appointment Date - Booking Request Date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E4EAF4D-8F87-43DC-B717-94EF688D49C1}"/>
              </a:ext>
            </a:extLst>
          </p:cNvPr>
          <p:cNvSpPr>
            <a:spLocks noGrp="1"/>
          </p:cNvSpPr>
          <p:nvPr/>
        </p:nvSpPr>
        <p:spPr>
          <a:xfrm>
            <a:off x="1066800" y="641985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64748B"/>
                </a:solidFill>
              </a:defRPr>
            </a:pPr>
            <a:r>
              <a:rPr sz="1600" b="1" i="0">
                <a:solidFill>
                  <a:srgbClr val="64748B"/>
                </a:solidFill>
              </a:rPr>
              <a:t>Field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49381F5-6606-4AF5-A41A-5FA43FAD570A}"/>
              </a:ext>
            </a:extLst>
          </p:cNvPr>
          <p:cNvSpPr>
            <a:spLocks noGrp="1"/>
          </p:cNvSpPr>
          <p:nvPr/>
        </p:nvSpPr>
        <p:spPr>
          <a:xfrm>
            <a:off x="2333625" y="6419850"/>
            <a:ext cx="1181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827"/>
                </a:solidFill>
              </a:defRPr>
            </a:pPr>
            <a:r>
              <a:rPr sz="1600" b="0" i="0" dirty="0">
                <a:solidFill>
                  <a:srgbClr val="111827"/>
                </a:solidFill>
              </a:rPr>
              <a:t>Field in System: </a:t>
            </a:r>
            <a:r>
              <a:rPr lang="en-AU" sz="1600" dirty="0">
                <a:solidFill>
                  <a:srgbClr val="111827"/>
                </a:solidFill>
              </a:rPr>
              <a:t>M</a:t>
            </a:r>
            <a:r>
              <a:rPr lang="en-AU" sz="1600" b="0" i="0" dirty="0">
                <a:solidFill>
                  <a:srgbClr val="111827"/>
                </a:solidFill>
              </a:rPr>
              <a:t>issing appointment date, having </a:t>
            </a:r>
            <a:r>
              <a:rPr lang="en-AU" sz="1600" b="0" i="0" dirty="0" err="1">
                <a:solidFill>
                  <a:srgbClr val="111827"/>
                </a:solidFill>
              </a:rPr>
              <a:t>CreatedOn</a:t>
            </a:r>
            <a:r>
              <a:rPr lang="en-AU" sz="1600" b="0" i="0" dirty="0">
                <a:solidFill>
                  <a:srgbClr val="111827"/>
                </a:solidFill>
              </a:rPr>
              <a:t> as Booking Request Date</a:t>
            </a:r>
            <a:endParaRPr sz="1600" b="0" i="0" dirty="0">
              <a:solidFill>
                <a:srgbClr val="111827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440AC3F-17B2-4D8D-BAF5-6F9FB11FF50D}"/>
              </a:ext>
            </a:extLst>
          </p:cNvPr>
          <p:cNvSpPr>
            <a:spLocks noGrp="1"/>
          </p:cNvSpPr>
          <p:nvPr/>
        </p:nvSpPr>
        <p:spPr>
          <a:xfrm>
            <a:off x="1066800" y="683895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64748B"/>
                </a:solidFill>
              </a:defRPr>
            </a:pPr>
            <a:r>
              <a:rPr sz="1600" b="1" i="0">
                <a:solidFill>
                  <a:srgbClr val="64748B"/>
                </a:solidFill>
              </a:rPr>
              <a:t>Next Step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8D14B9A-25AF-4E14-8C8F-8B5D90340B84}"/>
              </a:ext>
            </a:extLst>
          </p:cNvPr>
          <p:cNvSpPr>
            <a:spLocks noGrp="1"/>
          </p:cNvSpPr>
          <p:nvPr/>
        </p:nvSpPr>
        <p:spPr>
          <a:xfrm>
            <a:off x="2333625" y="6838950"/>
            <a:ext cx="11811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111827"/>
                </a:solidFill>
              </a:defRPr>
            </a:pPr>
            <a:r>
              <a:rPr lang="en-AU" sz="1600" dirty="0">
                <a:solidFill>
                  <a:srgbClr val="111827"/>
                </a:solidFill>
              </a:rPr>
              <a:t>Add a new field for Appointment Date in system</a:t>
            </a:r>
            <a:r>
              <a:rPr sz="1600" b="0" i="0" dirty="0">
                <a:solidFill>
                  <a:srgbClr val="111827"/>
                </a:solidFill>
              </a:rPr>
              <a:t>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46125A2-E248-42E5-863C-742E34FC714B}"/>
              </a:ext>
            </a:extLst>
          </p:cNvPr>
          <p:cNvSpPr>
            <a:spLocks noGrp="1"/>
          </p:cNvSpPr>
          <p:nvPr/>
        </p:nvSpPr>
        <p:spPr>
          <a:xfrm>
            <a:off x="2333625" y="7410450"/>
            <a:ext cx="7029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64748B"/>
                </a:solidFill>
              </a:defRPr>
            </a:pPr>
            <a:r>
              <a:rPr sz="1600" b="0" i="0" dirty="0">
                <a:solidFill>
                  <a:srgbClr val="64748B"/>
                </a:solidFill>
              </a:rPr>
              <a:t>Alternative</a:t>
            </a:r>
            <a:r>
              <a:rPr lang="en-AU" sz="1600" b="0" i="0" dirty="0">
                <a:solidFill>
                  <a:srgbClr val="64748B"/>
                </a:solidFill>
              </a:rPr>
              <a:t>: None</a:t>
            </a:r>
            <a:r>
              <a:rPr sz="1600" b="0" i="0" dirty="0">
                <a:solidFill>
                  <a:srgbClr val="64748B"/>
                </a:solidFill>
              </a:rPr>
              <a:t>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21FF6A8-6B15-4D6B-8116-933DFAB20992}"/>
              </a:ext>
            </a:extLst>
          </p:cNvPr>
          <p:cNvSpPr>
            <a:spLocks noGrp="1"/>
          </p:cNvSpPr>
          <p:nvPr/>
        </p:nvSpPr>
        <p:spPr>
          <a:xfrm>
            <a:off x="10287000" y="7410450"/>
            <a:ext cx="3667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64748B"/>
                </a:solidFill>
              </a:defRPr>
            </a:pPr>
            <a:r>
              <a:rPr sz="1600" b="0" i="0" dirty="0">
                <a:solidFill>
                  <a:srgbClr val="64748B"/>
                </a:solidFill>
              </a:rPr>
              <a:t>Owner:</a:t>
            </a:r>
            <a:r>
              <a:rPr lang="en-AU" sz="1600" b="0" i="0" dirty="0">
                <a:solidFill>
                  <a:srgbClr val="64748B"/>
                </a:solidFill>
              </a:rPr>
              <a:t> C4C                                   </a:t>
            </a:r>
            <a:r>
              <a:rPr sz="1600" b="0" i="0" dirty="0">
                <a:solidFill>
                  <a:srgbClr val="64748B"/>
                </a:solidFill>
              </a:rPr>
              <a:t> </a:t>
            </a:r>
            <a:r>
              <a:rPr lang="en-AU" sz="1600" b="0" i="0" dirty="0">
                <a:solidFill>
                  <a:srgbClr val="64748B"/>
                </a:solidFill>
              </a:rPr>
              <a:t>Due date</a:t>
            </a:r>
            <a:endParaRPr sz="1600" b="0" i="0" dirty="0">
              <a:solidFill>
                <a:srgbClr val="64748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957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03AE86C9-7562-4367-A732-D6DE3C5B455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7145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3FCB78-6B52-4F3E-BB64-618E012CEC7F}"/>
              </a:ext>
            </a:extLst>
          </p:cNvPr>
          <p:cNvSpPr>
            <a:spLocks noGrp="1"/>
          </p:cNvSpPr>
          <p:nvPr/>
        </p:nvSpPr>
        <p:spPr>
          <a:xfrm>
            <a:off x="762000" y="4762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0F766E"/>
                </a:solidFill>
              </a:defRPr>
            </a:pPr>
            <a:r>
              <a:rPr sz="1200" b="1" i="0">
                <a:solidFill>
                  <a:srgbClr val="0F766E"/>
                </a:solidFill>
              </a:rPr>
              <a:t>OPERATIONS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A9C547-53F0-4912-ACE4-67589FA519F0}"/>
              </a:ext>
            </a:extLst>
          </p:cNvPr>
          <p:cNvSpPr>
            <a:spLocks noGrp="1"/>
          </p:cNvSpPr>
          <p:nvPr/>
        </p:nvSpPr>
        <p:spPr>
          <a:xfrm>
            <a:off x="762000" y="742950"/>
            <a:ext cx="11430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 i="0">
                <a:solidFill>
                  <a:srgbClr val="111827"/>
                </a:solidFill>
              </a:defRPr>
            </a:pPr>
            <a:r>
              <a:rPr sz="3300" b="1" i="0">
                <a:solidFill>
                  <a:srgbClr val="111827"/>
                </a:solidFill>
              </a:rPr>
              <a:t>Customer and growth KPIs need stable history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C1972B-C418-4EC1-BF7A-07A1366FF434}"/>
              </a:ext>
            </a:extLst>
          </p:cNvPr>
          <p:cNvSpPr>
            <a:spLocks noGrp="1"/>
          </p:cNvSpPr>
          <p:nvPr/>
        </p:nvSpPr>
        <p:spPr>
          <a:xfrm>
            <a:off x="762000" y="1428750"/>
            <a:ext cx="137160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55A80A-C85A-4657-99CE-1AC108040125}"/>
              </a:ext>
            </a:extLst>
          </p:cNvPr>
          <p:cNvSpPr>
            <a:spLocks noGrp="1"/>
          </p:cNvSpPr>
          <p:nvPr/>
        </p:nvSpPr>
        <p:spPr>
          <a:xfrm>
            <a:off x="13906500" y="590550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A54EAC-C173-4873-B15A-EFC550CBCCC8}"/>
              </a:ext>
            </a:extLst>
          </p:cNvPr>
          <p:cNvSpPr>
            <a:spLocks noGrp="1"/>
          </p:cNvSpPr>
          <p:nvPr/>
        </p:nvSpPr>
        <p:spPr>
          <a:xfrm>
            <a:off x="857250" y="1952625"/>
            <a:ext cx="66675" cy="285750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  <p:txBody>
          <a:bodyPr/>
          <a:lstStyle/>
          <a:p>
            <a:endParaRPr lang="en-AU" sz="16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AC61D6-3143-4E4A-AF8A-EB822D51963A}"/>
              </a:ext>
            </a:extLst>
          </p:cNvPr>
          <p:cNvSpPr>
            <a:spLocks noGrp="1"/>
          </p:cNvSpPr>
          <p:nvPr/>
        </p:nvSpPr>
        <p:spPr>
          <a:xfrm>
            <a:off x="1066800" y="1933575"/>
            <a:ext cx="13296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111827"/>
                </a:solidFill>
              </a:defRPr>
            </a:pPr>
            <a:r>
              <a:rPr sz="1600" b="1" i="0">
                <a:solidFill>
                  <a:srgbClr val="111827"/>
                </a:solidFill>
              </a:rPr>
              <a:t>Customer Retention Rate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0C104F-48C1-482A-85D6-EEA3ED6B7E42}"/>
              </a:ext>
            </a:extLst>
          </p:cNvPr>
          <p:cNvSpPr>
            <a:spLocks noGrp="1"/>
          </p:cNvSpPr>
          <p:nvPr/>
        </p:nvSpPr>
        <p:spPr>
          <a:xfrm>
            <a:off x="1066800" y="2276475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0F766E"/>
                </a:solidFill>
              </a:defRPr>
            </a:pPr>
            <a:r>
              <a:rPr sz="1600" b="1" i="0">
                <a:solidFill>
                  <a:srgbClr val="0F766E"/>
                </a:solidFill>
              </a:rPr>
              <a:t>Target: &gt;90%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F55444-1AC9-4A6C-9985-06BD6000B195}"/>
              </a:ext>
            </a:extLst>
          </p:cNvPr>
          <p:cNvSpPr>
            <a:spLocks noGrp="1"/>
          </p:cNvSpPr>
          <p:nvPr/>
        </p:nvSpPr>
        <p:spPr>
          <a:xfrm>
            <a:off x="4667250" y="2276475"/>
            <a:ext cx="952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64748B"/>
                </a:solidFill>
              </a:defRPr>
            </a:pPr>
            <a:r>
              <a:rPr sz="1600" b="0" i="0">
                <a:solidFill>
                  <a:srgbClr val="64748B"/>
                </a:solidFill>
              </a:rPr>
              <a:t>Source: C4C Service + Sales / Customer 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F54F53-43BA-4AB0-B123-2D3D3362732E}"/>
              </a:ext>
            </a:extLst>
          </p:cNvPr>
          <p:cNvSpPr>
            <a:spLocks noGrp="1"/>
          </p:cNvSpPr>
          <p:nvPr/>
        </p:nvSpPr>
        <p:spPr>
          <a:xfrm>
            <a:off x="1066800" y="2638425"/>
            <a:ext cx="13106400" cy="9525"/>
          </a:xfrm>
          <a:prstGeom prst="rect">
            <a:avLst/>
          </a:prstGeom>
          <a:solidFill>
            <a:srgbClr val="E5E7EB"/>
          </a:solidFill>
          <a:ln w="0">
            <a:noFill/>
            <a:prstDash val="solid"/>
          </a:ln>
        </p:spPr>
        <p:txBody>
          <a:bodyPr/>
          <a:lstStyle/>
          <a:p>
            <a:endParaRPr lang="en-AU" sz="16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8BA8C8A-43AC-47A5-BD8B-56F50283FA94}"/>
              </a:ext>
            </a:extLst>
          </p:cNvPr>
          <p:cNvSpPr>
            <a:spLocks noGrp="1"/>
          </p:cNvSpPr>
          <p:nvPr/>
        </p:nvSpPr>
        <p:spPr>
          <a:xfrm>
            <a:off x="1066800" y="277177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64748B"/>
                </a:solidFill>
              </a:defRPr>
            </a:pPr>
            <a:r>
              <a:rPr sz="1600" b="1" i="0">
                <a:solidFill>
                  <a:srgbClr val="64748B"/>
                </a:solidFill>
              </a:rPr>
              <a:t>Formula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C406038-3363-4133-9210-9AB294B1FAA6}"/>
              </a:ext>
            </a:extLst>
          </p:cNvPr>
          <p:cNvSpPr>
            <a:spLocks noGrp="1"/>
          </p:cNvSpPr>
          <p:nvPr/>
        </p:nvSpPr>
        <p:spPr>
          <a:xfrm>
            <a:off x="2333625" y="2771775"/>
            <a:ext cx="11811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827"/>
                </a:solidFill>
              </a:defRPr>
            </a:pPr>
            <a:r>
              <a:rPr sz="1600" b="0" i="0">
                <a:solidFill>
                  <a:srgbClr val="111827"/>
                </a:solidFill>
              </a:rPr>
              <a:t>Returning Sold Vans / Sold Vans in Service Scope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31D1DE6-3E3C-433D-9511-8533421898CD}"/>
              </a:ext>
            </a:extLst>
          </p:cNvPr>
          <p:cNvSpPr>
            <a:spLocks noGrp="1"/>
          </p:cNvSpPr>
          <p:nvPr/>
        </p:nvSpPr>
        <p:spPr>
          <a:xfrm>
            <a:off x="1066800" y="332422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64748B"/>
                </a:solidFill>
              </a:defRPr>
            </a:pPr>
            <a:r>
              <a:rPr sz="1600" b="1" i="0">
                <a:solidFill>
                  <a:srgbClr val="64748B"/>
                </a:solidFill>
              </a:rPr>
              <a:t>Field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B69C6C-A9B2-4E9B-A0AF-BE1DF8FDE855}"/>
              </a:ext>
            </a:extLst>
          </p:cNvPr>
          <p:cNvSpPr>
            <a:spLocks noGrp="1"/>
          </p:cNvSpPr>
          <p:nvPr/>
        </p:nvSpPr>
        <p:spPr>
          <a:xfrm>
            <a:off x="2333625" y="3324225"/>
            <a:ext cx="1181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827"/>
                </a:solidFill>
              </a:defRPr>
            </a:pPr>
            <a:r>
              <a:rPr sz="1600" b="0" i="0" dirty="0">
                <a:solidFill>
                  <a:srgbClr val="111827"/>
                </a:solidFill>
              </a:rPr>
              <a:t>Field in System: </a:t>
            </a:r>
            <a:r>
              <a:rPr lang="en-AU" sz="1600" dirty="0">
                <a:solidFill>
                  <a:srgbClr val="111827"/>
                </a:solidFill>
              </a:rPr>
              <a:t>C</a:t>
            </a:r>
            <a:r>
              <a:rPr lang="en-US" altLang="zh-CN" sz="1600" b="0" i="0" dirty="0" err="1">
                <a:solidFill>
                  <a:srgbClr val="111827"/>
                </a:solidFill>
              </a:rPr>
              <a:t>hassis</a:t>
            </a:r>
            <a:r>
              <a:rPr lang="en-US" altLang="zh-CN" sz="1600" b="0" i="0" dirty="0">
                <a:solidFill>
                  <a:srgbClr val="111827"/>
                </a:solidFill>
              </a:rPr>
              <a:t> number</a:t>
            </a:r>
            <a:r>
              <a:rPr lang="en-US" altLang="zh-CN" sz="1600" dirty="0">
                <a:solidFill>
                  <a:srgbClr val="111827"/>
                </a:solidFill>
              </a:rPr>
              <a:t> in C4C</a:t>
            </a:r>
            <a:endParaRPr sz="1600" b="0" i="0" dirty="0">
              <a:solidFill>
                <a:srgbClr val="111827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45F94D3-FF45-44D4-9FA5-C1F7C8172385}"/>
              </a:ext>
            </a:extLst>
          </p:cNvPr>
          <p:cNvSpPr>
            <a:spLocks noGrp="1"/>
          </p:cNvSpPr>
          <p:nvPr/>
        </p:nvSpPr>
        <p:spPr>
          <a:xfrm>
            <a:off x="1066800" y="374332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64748B"/>
                </a:solidFill>
              </a:defRPr>
            </a:pPr>
            <a:r>
              <a:rPr sz="1600" b="1" i="0">
                <a:solidFill>
                  <a:srgbClr val="64748B"/>
                </a:solidFill>
              </a:rPr>
              <a:t>Next Step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D60340F-666D-44B0-A46F-424F6BB1D7F2}"/>
              </a:ext>
            </a:extLst>
          </p:cNvPr>
          <p:cNvSpPr>
            <a:spLocks noGrp="1"/>
          </p:cNvSpPr>
          <p:nvPr/>
        </p:nvSpPr>
        <p:spPr>
          <a:xfrm>
            <a:off x="2333625" y="3743325"/>
            <a:ext cx="11811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827"/>
                </a:solidFill>
              </a:defRPr>
            </a:pPr>
            <a:r>
              <a:rPr sz="1600" b="0" i="0" dirty="0">
                <a:solidFill>
                  <a:srgbClr val="111827"/>
                </a:solidFill>
              </a:rPr>
              <a:t>Define customer return logic using sold van / local service records</a:t>
            </a:r>
            <a:r>
              <a:rPr lang="en-AU" sz="1600" b="0" i="0" dirty="0">
                <a:solidFill>
                  <a:srgbClr val="111827"/>
                </a:solidFill>
              </a:rPr>
              <a:t> in system</a:t>
            </a:r>
            <a:r>
              <a:rPr sz="1600" b="0" i="0" dirty="0">
                <a:solidFill>
                  <a:srgbClr val="111827"/>
                </a:solidFill>
              </a:rPr>
              <a:t>.</a:t>
            </a:r>
            <a:r>
              <a:rPr lang="en-AU" sz="1600" b="0" i="0" dirty="0">
                <a:solidFill>
                  <a:srgbClr val="111827"/>
                </a:solidFill>
              </a:rPr>
              <a:t> Chassis? Rego?</a:t>
            </a:r>
            <a:endParaRPr sz="1600" b="0" i="0" dirty="0">
              <a:solidFill>
                <a:srgbClr val="111827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3558D79-0E49-419D-A2C9-73B576A70B2E}"/>
              </a:ext>
            </a:extLst>
          </p:cNvPr>
          <p:cNvSpPr>
            <a:spLocks noGrp="1"/>
          </p:cNvSpPr>
          <p:nvPr/>
        </p:nvSpPr>
        <p:spPr>
          <a:xfrm>
            <a:off x="2333625" y="4314825"/>
            <a:ext cx="7029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64748B"/>
                </a:solidFill>
              </a:defRPr>
            </a:pPr>
            <a:r>
              <a:rPr sz="1600" b="0" i="0" dirty="0">
                <a:solidFill>
                  <a:srgbClr val="64748B"/>
                </a:solidFill>
              </a:rPr>
              <a:t>Alternative: return service rate for sold vans.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A53A6F9-3F3D-4627-A9CB-61FB0021AE44}"/>
              </a:ext>
            </a:extLst>
          </p:cNvPr>
          <p:cNvSpPr>
            <a:spLocks noGrp="1"/>
          </p:cNvSpPr>
          <p:nvPr/>
        </p:nvSpPr>
        <p:spPr>
          <a:xfrm>
            <a:off x="10287000" y="4314825"/>
            <a:ext cx="3667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64748B"/>
                </a:solidFill>
              </a:defRPr>
            </a:pPr>
            <a:r>
              <a:rPr sz="1600" b="0" i="0" dirty="0">
                <a:solidFill>
                  <a:srgbClr val="64748B"/>
                </a:solidFill>
              </a:rPr>
              <a:t>Owner:</a:t>
            </a:r>
            <a:r>
              <a:rPr lang="en-AU" sz="1600" b="0" i="0" dirty="0">
                <a:solidFill>
                  <a:srgbClr val="64748B"/>
                </a:solidFill>
              </a:rPr>
              <a:t>                Due date</a:t>
            </a:r>
            <a:endParaRPr sz="1600" b="0" i="0" dirty="0">
              <a:solidFill>
                <a:srgbClr val="64748B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842B38D-8AC1-4A2A-BC1A-AA00E8CE5030}"/>
              </a:ext>
            </a:extLst>
          </p:cNvPr>
          <p:cNvSpPr>
            <a:spLocks noGrp="1"/>
          </p:cNvSpPr>
          <p:nvPr/>
        </p:nvSpPr>
        <p:spPr>
          <a:xfrm>
            <a:off x="857250" y="5048250"/>
            <a:ext cx="66675" cy="285750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  <p:txBody>
          <a:bodyPr/>
          <a:lstStyle/>
          <a:p>
            <a:endParaRPr lang="en-AU" sz="16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A391A22-F387-42CA-B615-5D41C3A15CFF}"/>
              </a:ext>
            </a:extLst>
          </p:cNvPr>
          <p:cNvSpPr>
            <a:spLocks noGrp="1"/>
          </p:cNvSpPr>
          <p:nvPr/>
        </p:nvSpPr>
        <p:spPr>
          <a:xfrm>
            <a:off x="1066800" y="5029200"/>
            <a:ext cx="13296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111827"/>
                </a:solidFill>
              </a:defRPr>
            </a:pPr>
            <a:r>
              <a:rPr sz="1600" b="1" i="0">
                <a:solidFill>
                  <a:srgbClr val="111827"/>
                </a:solidFill>
              </a:rPr>
              <a:t>Retail Repair Order Growth Rate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CA81D7A-74F6-4F00-BD2D-3D7E7C57E3FB}"/>
              </a:ext>
            </a:extLst>
          </p:cNvPr>
          <p:cNvSpPr>
            <a:spLocks noGrp="1"/>
          </p:cNvSpPr>
          <p:nvPr/>
        </p:nvSpPr>
        <p:spPr>
          <a:xfrm>
            <a:off x="1066800" y="53721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0F766E"/>
                </a:solidFill>
              </a:defRPr>
            </a:pPr>
            <a:r>
              <a:rPr sz="1600" b="1" i="0">
                <a:solidFill>
                  <a:srgbClr val="0F766E"/>
                </a:solidFill>
              </a:rPr>
              <a:t>Target: 3% to 6% YOY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053B542-3CDB-4A6E-BDA6-3A58418D6EDE}"/>
              </a:ext>
            </a:extLst>
          </p:cNvPr>
          <p:cNvSpPr>
            <a:spLocks noGrp="1"/>
          </p:cNvSpPr>
          <p:nvPr/>
        </p:nvSpPr>
        <p:spPr>
          <a:xfrm>
            <a:off x="4667250" y="5372100"/>
            <a:ext cx="952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64748B"/>
                </a:solidFill>
              </a:defRPr>
            </a:pPr>
            <a:r>
              <a:rPr sz="1600" b="0" i="0">
                <a:solidFill>
                  <a:srgbClr val="64748B"/>
                </a:solidFill>
              </a:rPr>
              <a:t>Source: C4C Repair Orders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B3F6B92-1B4D-47E8-991D-42A8EA1E76EC}"/>
              </a:ext>
            </a:extLst>
          </p:cNvPr>
          <p:cNvSpPr>
            <a:spLocks noGrp="1"/>
          </p:cNvSpPr>
          <p:nvPr/>
        </p:nvSpPr>
        <p:spPr>
          <a:xfrm>
            <a:off x="1066800" y="5734050"/>
            <a:ext cx="13106400" cy="9525"/>
          </a:xfrm>
          <a:prstGeom prst="rect">
            <a:avLst/>
          </a:prstGeom>
          <a:solidFill>
            <a:srgbClr val="E5E7EB"/>
          </a:solidFill>
          <a:ln w="0">
            <a:noFill/>
            <a:prstDash val="solid"/>
          </a:ln>
        </p:spPr>
        <p:txBody>
          <a:bodyPr/>
          <a:lstStyle/>
          <a:p>
            <a:endParaRPr lang="en-AU" sz="16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4F607B8-09F8-4C97-863E-4888593F6EC5}"/>
              </a:ext>
            </a:extLst>
          </p:cNvPr>
          <p:cNvSpPr>
            <a:spLocks noGrp="1"/>
          </p:cNvSpPr>
          <p:nvPr/>
        </p:nvSpPr>
        <p:spPr>
          <a:xfrm>
            <a:off x="1066800" y="586740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64748B"/>
                </a:solidFill>
              </a:defRPr>
            </a:pPr>
            <a:r>
              <a:rPr sz="1600" b="1" i="0">
                <a:solidFill>
                  <a:srgbClr val="64748B"/>
                </a:solidFill>
              </a:rPr>
              <a:t>Formula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AAB1FBD-940C-4A06-9506-CB8A87D9C4AF}"/>
              </a:ext>
            </a:extLst>
          </p:cNvPr>
          <p:cNvSpPr>
            <a:spLocks noGrp="1"/>
          </p:cNvSpPr>
          <p:nvPr/>
        </p:nvSpPr>
        <p:spPr>
          <a:xfrm>
            <a:off x="2333625" y="5867400"/>
            <a:ext cx="11811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827"/>
                </a:solidFill>
              </a:defRPr>
            </a:pPr>
            <a:r>
              <a:rPr sz="1600" b="0" i="0">
                <a:solidFill>
                  <a:srgbClr val="111827"/>
                </a:solidFill>
              </a:rPr>
              <a:t>(Current Period Retail ROs - Prior Period Retail ROs) / Prior Period Retail ROs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4EF5029-7B32-4E97-9D9D-9F15F516D0E6}"/>
              </a:ext>
            </a:extLst>
          </p:cNvPr>
          <p:cNvSpPr>
            <a:spLocks noGrp="1"/>
          </p:cNvSpPr>
          <p:nvPr/>
        </p:nvSpPr>
        <p:spPr>
          <a:xfrm>
            <a:off x="1066800" y="641985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64748B"/>
                </a:solidFill>
              </a:defRPr>
            </a:pPr>
            <a:r>
              <a:rPr sz="1600" b="1" i="0">
                <a:solidFill>
                  <a:srgbClr val="64748B"/>
                </a:solidFill>
              </a:rPr>
              <a:t>Field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7FFB1A2-0322-40A7-A694-BD05762DE92B}"/>
              </a:ext>
            </a:extLst>
          </p:cNvPr>
          <p:cNvSpPr>
            <a:spLocks noGrp="1"/>
          </p:cNvSpPr>
          <p:nvPr/>
        </p:nvSpPr>
        <p:spPr>
          <a:xfrm>
            <a:off x="2333625" y="6419850"/>
            <a:ext cx="1181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827"/>
                </a:solidFill>
              </a:defRPr>
            </a:pPr>
            <a:r>
              <a:rPr sz="1600" b="0" i="0" dirty="0">
                <a:solidFill>
                  <a:srgbClr val="111827"/>
                </a:solidFill>
              </a:rPr>
              <a:t>Field in System: </a:t>
            </a:r>
            <a:r>
              <a:rPr lang="en-AU" sz="1600" b="0" i="0" dirty="0">
                <a:solidFill>
                  <a:srgbClr val="111827"/>
                </a:solidFill>
              </a:rPr>
              <a:t>RO ID</a:t>
            </a:r>
            <a:r>
              <a:rPr lang="en-AU" sz="1600" dirty="0">
                <a:solidFill>
                  <a:srgbClr val="111827"/>
                </a:solidFill>
              </a:rPr>
              <a:t> in C4C, but missing status change time by date</a:t>
            </a:r>
            <a:endParaRPr sz="1600" b="0" i="0" dirty="0">
              <a:solidFill>
                <a:srgbClr val="111827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E9C8056-7960-4383-92DB-B4CEF17F3E59}"/>
              </a:ext>
            </a:extLst>
          </p:cNvPr>
          <p:cNvSpPr>
            <a:spLocks noGrp="1"/>
          </p:cNvSpPr>
          <p:nvPr/>
        </p:nvSpPr>
        <p:spPr>
          <a:xfrm>
            <a:off x="1066800" y="683895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64748B"/>
                </a:solidFill>
              </a:defRPr>
            </a:pPr>
            <a:r>
              <a:rPr sz="1600" b="1" i="0">
                <a:solidFill>
                  <a:srgbClr val="64748B"/>
                </a:solidFill>
              </a:rPr>
              <a:t>Next Step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24A0079-6E53-4245-B56E-E08822E34DD3}"/>
              </a:ext>
            </a:extLst>
          </p:cNvPr>
          <p:cNvSpPr>
            <a:spLocks noGrp="1"/>
          </p:cNvSpPr>
          <p:nvPr/>
        </p:nvSpPr>
        <p:spPr>
          <a:xfrm>
            <a:off x="2333625" y="6838950"/>
            <a:ext cx="11811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827"/>
                </a:solidFill>
              </a:defRPr>
            </a:pPr>
            <a:r>
              <a:rPr lang="en-AU" sz="1600" b="0" i="0" dirty="0">
                <a:solidFill>
                  <a:srgbClr val="111827"/>
                </a:solidFill>
              </a:rPr>
              <a:t>Add a new field to record the status last change time </a:t>
            </a:r>
            <a:r>
              <a:rPr sz="1600" b="0" i="0" dirty="0">
                <a:solidFill>
                  <a:srgbClr val="111827"/>
                </a:solidFill>
              </a:rPr>
              <a:t>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2DF16AF-897D-4D91-8054-BCF217F5A3D1}"/>
              </a:ext>
            </a:extLst>
          </p:cNvPr>
          <p:cNvSpPr>
            <a:spLocks noGrp="1"/>
          </p:cNvSpPr>
          <p:nvPr/>
        </p:nvSpPr>
        <p:spPr>
          <a:xfrm>
            <a:off x="2333625" y="7410450"/>
            <a:ext cx="7029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64748B"/>
                </a:solidFill>
              </a:defRPr>
            </a:pPr>
            <a:r>
              <a:rPr sz="1600" b="0" i="0">
                <a:solidFill>
                  <a:srgbClr val="64748B"/>
                </a:solidFill>
              </a:rPr>
              <a:t>Alternative: MoM / QoQ trend until 2027.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A387624-812C-472D-BC25-B1D82CBABE9B}"/>
              </a:ext>
            </a:extLst>
          </p:cNvPr>
          <p:cNvSpPr>
            <a:spLocks noGrp="1"/>
          </p:cNvSpPr>
          <p:nvPr/>
        </p:nvSpPr>
        <p:spPr>
          <a:xfrm>
            <a:off x="10287000" y="7410450"/>
            <a:ext cx="3667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64748B"/>
                </a:solidFill>
              </a:defRPr>
            </a:pPr>
            <a:r>
              <a:rPr sz="1600" b="0" i="0" dirty="0">
                <a:solidFill>
                  <a:srgbClr val="64748B"/>
                </a:solidFill>
              </a:rPr>
              <a:t>Owner: </a:t>
            </a:r>
            <a:r>
              <a:rPr lang="en-AU" sz="1600" b="0" i="0" dirty="0">
                <a:solidFill>
                  <a:srgbClr val="64748B"/>
                </a:solidFill>
              </a:rPr>
              <a:t>C4C          Due date</a:t>
            </a:r>
            <a:endParaRPr sz="1600" b="0" i="0" dirty="0">
              <a:solidFill>
                <a:srgbClr val="64748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04245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9458E22B-7ADD-47E3-B2DA-D707A62DAE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7145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B0E5FB-68E8-47C1-9B38-8B19E96B4367}"/>
              </a:ext>
            </a:extLst>
          </p:cNvPr>
          <p:cNvSpPr>
            <a:spLocks noGrp="1"/>
          </p:cNvSpPr>
          <p:nvPr/>
        </p:nvSpPr>
        <p:spPr>
          <a:xfrm>
            <a:off x="762000" y="4762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0F766E"/>
                </a:solidFill>
              </a:defRPr>
            </a:pPr>
            <a:r>
              <a:rPr sz="1200" b="1" i="0">
                <a:solidFill>
                  <a:srgbClr val="0F766E"/>
                </a:solidFill>
              </a:rPr>
              <a:t>IMPLEMENTATION CHECKLIST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602C7E-DB7A-4F84-9DE9-119395CCACB6}"/>
              </a:ext>
            </a:extLst>
          </p:cNvPr>
          <p:cNvSpPr>
            <a:spLocks noGrp="1"/>
          </p:cNvSpPr>
          <p:nvPr/>
        </p:nvSpPr>
        <p:spPr>
          <a:xfrm>
            <a:off x="762000" y="742950"/>
            <a:ext cx="11430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 i="0">
                <a:solidFill>
                  <a:srgbClr val="111827"/>
                </a:solidFill>
              </a:defRPr>
            </a:pPr>
            <a:r>
              <a:rPr sz="3300" b="1" i="0">
                <a:solidFill>
                  <a:srgbClr val="111827"/>
                </a:solidFill>
              </a:rPr>
              <a:t>Decision points before dashboard build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832DAE-AC09-4459-BE7D-9C32E717B2BE}"/>
              </a:ext>
            </a:extLst>
          </p:cNvPr>
          <p:cNvSpPr>
            <a:spLocks noGrp="1"/>
          </p:cNvSpPr>
          <p:nvPr/>
        </p:nvSpPr>
        <p:spPr>
          <a:xfrm>
            <a:off x="762000" y="1428750"/>
            <a:ext cx="137160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B9C6B1-CB23-4D26-A200-E42A8B8441E0}"/>
              </a:ext>
            </a:extLst>
          </p:cNvPr>
          <p:cNvSpPr>
            <a:spLocks noGrp="1"/>
          </p:cNvSpPr>
          <p:nvPr/>
        </p:nvSpPr>
        <p:spPr>
          <a:xfrm>
            <a:off x="13906500" y="590550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11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86F02C-9317-4C62-8326-4089C56F606B}"/>
              </a:ext>
            </a:extLst>
          </p:cNvPr>
          <p:cNvSpPr>
            <a:spLocks noGrp="1"/>
          </p:cNvSpPr>
          <p:nvPr/>
        </p:nvSpPr>
        <p:spPr>
          <a:xfrm>
            <a:off x="1047750" y="2076450"/>
            <a:ext cx="190500" cy="19050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B86FC7-819D-46FA-B9E8-A00F2631DF36}"/>
              </a:ext>
            </a:extLst>
          </p:cNvPr>
          <p:cNvSpPr>
            <a:spLocks noGrp="1"/>
          </p:cNvSpPr>
          <p:nvPr/>
        </p:nvSpPr>
        <p:spPr>
          <a:xfrm>
            <a:off x="1524000" y="2000250"/>
            <a:ext cx="11620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0" i="0">
                <a:solidFill>
                  <a:srgbClr val="111827"/>
                </a:solidFill>
              </a:defRPr>
            </a:pPr>
            <a:r>
              <a:rPr sz="2025" b="0" i="0">
                <a:solidFill>
                  <a:srgbClr val="111827"/>
                </a:solidFill>
              </a:rPr>
              <a:t>Fill exact Field in System names for each KPI.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755312-1A75-4080-BE7B-6389D98D2770}"/>
              </a:ext>
            </a:extLst>
          </p:cNvPr>
          <p:cNvSpPr>
            <a:spLocks noGrp="1"/>
          </p:cNvSpPr>
          <p:nvPr/>
        </p:nvSpPr>
        <p:spPr>
          <a:xfrm>
            <a:off x="1047750" y="2990850"/>
            <a:ext cx="190500" cy="19050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B7714D-D0AA-4CCA-ADF2-4A468CBB068B}"/>
              </a:ext>
            </a:extLst>
          </p:cNvPr>
          <p:cNvSpPr>
            <a:spLocks noGrp="1"/>
          </p:cNvSpPr>
          <p:nvPr/>
        </p:nvSpPr>
        <p:spPr>
          <a:xfrm>
            <a:off x="1524000" y="2914650"/>
            <a:ext cx="11620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0" i="0">
                <a:solidFill>
                  <a:srgbClr val="111827"/>
                </a:solidFill>
              </a:defRPr>
            </a:pPr>
            <a:r>
              <a:rPr sz="2025" b="0" i="0">
                <a:solidFill>
                  <a:srgbClr val="111827"/>
                </a:solidFill>
              </a:rPr>
              <a:t>Confirm whether missing financial fields are SAP, C4C, HR/payroll or manual P&amp;L inputs.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806E96-398D-4943-A0B6-3E66449CC8AE}"/>
              </a:ext>
            </a:extLst>
          </p:cNvPr>
          <p:cNvSpPr>
            <a:spLocks noGrp="1"/>
          </p:cNvSpPr>
          <p:nvPr/>
        </p:nvSpPr>
        <p:spPr>
          <a:xfrm>
            <a:off x="1047750" y="3905250"/>
            <a:ext cx="190500" cy="19050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4E829E-DBE1-46D9-8E23-F74FBF4ADA26}"/>
              </a:ext>
            </a:extLst>
          </p:cNvPr>
          <p:cNvSpPr>
            <a:spLocks noGrp="1"/>
          </p:cNvSpPr>
          <p:nvPr/>
        </p:nvSpPr>
        <p:spPr>
          <a:xfrm>
            <a:off x="1524000" y="3829050"/>
            <a:ext cx="11620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0" i="0">
                <a:solidFill>
                  <a:srgbClr val="111827"/>
                </a:solidFill>
              </a:defRPr>
            </a:pPr>
            <a:r>
              <a:rPr sz="2025" b="0" i="0">
                <a:solidFill>
                  <a:srgbClr val="111827"/>
                </a:solidFill>
              </a:rPr>
              <a:t>Finish technician setup: people ID, team, assigned work orders and available hours.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5EFC71-7C85-4244-AE74-E6DEA6FFB259}"/>
              </a:ext>
            </a:extLst>
          </p:cNvPr>
          <p:cNvSpPr>
            <a:spLocks noGrp="1"/>
          </p:cNvSpPr>
          <p:nvPr/>
        </p:nvSpPr>
        <p:spPr>
          <a:xfrm>
            <a:off x="1047750" y="4819650"/>
            <a:ext cx="190500" cy="19050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3D50B5-F6DC-4A71-9C72-8FBE02588058}"/>
              </a:ext>
            </a:extLst>
          </p:cNvPr>
          <p:cNvSpPr>
            <a:spLocks noGrp="1"/>
          </p:cNvSpPr>
          <p:nvPr/>
        </p:nvSpPr>
        <p:spPr>
          <a:xfrm>
            <a:off x="1524000" y="4743450"/>
            <a:ext cx="11620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0" i="0">
                <a:solidFill>
                  <a:srgbClr val="111827"/>
                </a:solidFill>
              </a:defRPr>
            </a:pPr>
            <a:r>
              <a:rPr sz="2025" b="0" i="0">
                <a:solidFill>
                  <a:srgbClr val="111827"/>
                </a:solidFill>
              </a:rPr>
              <a:t>Approve interim alternatives for metrics that cannot be automated at launch.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7C11F5-410E-4511-9A83-D8E40EDABCC4}"/>
              </a:ext>
            </a:extLst>
          </p:cNvPr>
          <p:cNvSpPr>
            <a:spLocks noGrp="1"/>
          </p:cNvSpPr>
          <p:nvPr/>
        </p:nvSpPr>
        <p:spPr>
          <a:xfrm>
            <a:off x="1047750" y="5734050"/>
            <a:ext cx="190500" cy="19050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576CDD5-810E-45F6-A28B-EBC92B60EFD2}"/>
              </a:ext>
            </a:extLst>
          </p:cNvPr>
          <p:cNvSpPr>
            <a:spLocks noGrp="1"/>
          </p:cNvSpPr>
          <p:nvPr/>
        </p:nvSpPr>
        <p:spPr>
          <a:xfrm>
            <a:off x="1524000" y="5657850"/>
            <a:ext cx="11620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0" i="0">
                <a:solidFill>
                  <a:srgbClr val="111827"/>
                </a:solidFill>
              </a:defRPr>
            </a:pPr>
            <a:r>
              <a:rPr sz="2025" b="0" i="0">
                <a:solidFill>
                  <a:srgbClr val="111827"/>
                </a:solidFill>
              </a:rPr>
              <a:t>Use traffic-light status on the dashboard once targets and sources are signed off.</a:t>
            </a:r>
          </a:p>
        </p:txBody>
      </p:sp>
    </p:spTree>
    <p:extLst>
      <p:ext uri="{BB962C8B-B14F-4D97-AF65-F5344CB8AC3E}">
        <p14:creationId xmlns:p14="http://schemas.microsoft.com/office/powerpoint/2010/main" val="43962743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1227</Words>
  <Application>Microsoft Office PowerPoint</Application>
  <DocSecurity>0</DocSecurity>
  <PresentationFormat>Custom</PresentationFormat>
  <Paragraphs>210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Leo Li</cp:lastModifiedBy>
  <cp:revision>2</cp:revision>
  <dcterms:created xsi:type="dcterms:W3CDTF">2026-08-27T03:14:46Z</dcterms:created>
  <dcterms:modified xsi:type="dcterms:W3CDTF">2026-08-27T03:49:09Z</dcterms:modified>
</cp:coreProperties>
</file>